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uckiest Guy" charset="1" panose="02000506000000020004"/>
      <p:regular r:id="rId19"/>
    </p:embeddedFont>
    <p:embeddedFont>
      <p:font typeface="KG Primary Penmanship" charset="1" panose="02000506000000020003"/>
      <p:regular r:id="rId20"/>
    </p:embeddedFont>
    <p:embeddedFont>
      <p:font typeface="Muli Bold" charset="1" panose="00000800000000000000"/>
      <p:regular r:id="rId21"/>
    </p:embeddedFont>
    <p:embeddedFont>
      <p:font typeface="Muli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014578" y="1297210"/>
            <a:ext cx="3515928" cy="7961090"/>
            <a:chOff x="0" y="0"/>
            <a:chExt cx="4687904" cy="106147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0003" y="0"/>
              <a:ext cx="4207622" cy="4326604"/>
            </a:xfrm>
            <a:custGeom>
              <a:avLst/>
              <a:gdLst/>
              <a:ahLst/>
              <a:cxnLst/>
              <a:rect r="r" b="b" t="t" l="l"/>
              <a:pathLst>
                <a:path h="4326604" w="4207622">
                  <a:moveTo>
                    <a:pt x="0" y="0"/>
                  </a:moveTo>
                  <a:lnTo>
                    <a:pt x="4207623" y="0"/>
                  </a:lnTo>
                  <a:lnTo>
                    <a:pt x="4207623" y="4326604"/>
                  </a:lnTo>
                  <a:lnTo>
                    <a:pt x="0" y="4326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511383"/>
              <a:ext cx="3741640" cy="3887418"/>
            </a:xfrm>
            <a:custGeom>
              <a:avLst/>
              <a:gdLst/>
              <a:ahLst/>
              <a:cxnLst/>
              <a:rect r="r" b="b" t="t" l="l"/>
              <a:pathLst>
                <a:path h="3887418" w="3741640">
                  <a:moveTo>
                    <a:pt x="0" y="0"/>
                  </a:moveTo>
                  <a:lnTo>
                    <a:pt x="3741640" y="0"/>
                  </a:lnTo>
                  <a:lnTo>
                    <a:pt x="3741640" y="3887418"/>
                  </a:lnTo>
                  <a:lnTo>
                    <a:pt x="0" y="388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4672" y="6727368"/>
              <a:ext cx="4163232" cy="3887418"/>
            </a:xfrm>
            <a:custGeom>
              <a:avLst/>
              <a:gdLst/>
              <a:ahLst/>
              <a:cxnLst/>
              <a:rect r="r" b="b" t="t" l="l"/>
              <a:pathLst>
                <a:path h="3887418" w="4163232">
                  <a:moveTo>
                    <a:pt x="0" y="0"/>
                  </a:moveTo>
                  <a:lnTo>
                    <a:pt x="4163232" y="0"/>
                  </a:lnTo>
                  <a:lnTo>
                    <a:pt x="4163232" y="3887418"/>
                  </a:lnTo>
                  <a:lnTo>
                    <a:pt x="0" y="388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2263887"/>
            <a:ext cx="12448480" cy="287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6"/>
              </a:lnSpc>
            </a:pPr>
            <a:r>
              <a:rPr lang="en-US" sz="16754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NETWORKX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02989"/>
            <a:ext cx="12448480" cy="224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LIBRERÍA DE PYTHON PARA ANÁLISIS DE GRAFOS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0496" y="6971111"/>
            <a:ext cx="6935025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Melisa Maldonado Melenge</a:t>
            </a:r>
          </a:p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Probabilidad y Estadística</a:t>
            </a:r>
          </a:p>
          <a:p>
            <a:pPr algn="l">
              <a:lnSpc>
                <a:spcPts val="66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BC9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569060"/>
            <a:chOff x="0" y="0"/>
            <a:chExt cx="160662311" cy="238876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23742882"/>
            </a:xfrm>
            <a:custGeom>
              <a:avLst/>
              <a:gdLst/>
              <a:ahLst/>
              <a:cxnLst/>
              <a:rect r="r" b="b" t="t" l="l"/>
              <a:pathLst>
                <a:path h="23742882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23742882"/>
                  </a:lnTo>
                  <a:lnTo>
                    <a:pt x="0" y="2374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23887661"/>
            </a:xfrm>
            <a:custGeom>
              <a:avLst/>
              <a:gdLst/>
              <a:ahLst/>
              <a:cxnLst/>
              <a:rect r="r" b="b" t="t" l="l"/>
              <a:pathLst>
                <a:path h="23887661" w="160662317">
                  <a:moveTo>
                    <a:pt x="160517532" y="23742881"/>
                  </a:moveTo>
                  <a:lnTo>
                    <a:pt x="160662317" y="23742881"/>
                  </a:lnTo>
                  <a:lnTo>
                    <a:pt x="160662317" y="23887661"/>
                  </a:lnTo>
                  <a:lnTo>
                    <a:pt x="160517532" y="23887661"/>
                  </a:lnTo>
                  <a:lnTo>
                    <a:pt x="160517532" y="237428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742881"/>
                  </a:lnTo>
                  <a:lnTo>
                    <a:pt x="0" y="23742881"/>
                  </a:lnTo>
                  <a:lnTo>
                    <a:pt x="0" y="144780"/>
                  </a:lnTo>
                  <a:close/>
                  <a:moveTo>
                    <a:pt x="0" y="23742881"/>
                  </a:moveTo>
                  <a:lnTo>
                    <a:pt x="144780" y="23742881"/>
                  </a:lnTo>
                  <a:lnTo>
                    <a:pt x="144780" y="23887661"/>
                  </a:lnTo>
                  <a:lnTo>
                    <a:pt x="0" y="23887661"/>
                  </a:lnTo>
                  <a:lnTo>
                    <a:pt x="0" y="23742881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23742881"/>
                  </a:lnTo>
                  <a:lnTo>
                    <a:pt x="160517532" y="23742881"/>
                  </a:lnTo>
                  <a:lnTo>
                    <a:pt x="160517532" y="144780"/>
                  </a:lnTo>
                  <a:close/>
                  <a:moveTo>
                    <a:pt x="144780" y="23742881"/>
                  </a:moveTo>
                  <a:lnTo>
                    <a:pt x="160517532" y="23742881"/>
                  </a:lnTo>
                  <a:lnTo>
                    <a:pt x="160517532" y="23887661"/>
                  </a:lnTo>
                  <a:lnTo>
                    <a:pt x="144780" y="23887661"/>
                  </a:lnTo>
                  <a:lnTo>
                    <a:pt x="144780" y="23742881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81050"/>
            <a:ext cx="16230600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¿QUÉ ES NETWORKX?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4578" y="3578822"/>
            <a:ext cx="8365050" cy="6160046"/>
            <a:chOff x="0" y="0"/>
            <a:chExt cx="77779993" cy="572773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77635214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9990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77779990">
                  <a:moveTo>
                    <a:pt x="77635212" y="57132618"/>
                  </a:moveTo>
                  <a:lnTo>
                    <a:pt x="77779990" y="57132618"/>
                  </a:lnTo>
                  <a:lnTo>
                    <a:pt x="77779990" y="57277397"/>
                  </a:lnTo>
                  <a:lnTo>
                    <a:pt x="77635212" y="57277397"/>
                  </a:lnTo>
                  <a:lnTo>
                    <a:pt x="7763521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57132618"/>
                  </a:lnTo>
                  <a:lnTo>
                    <a:pt x="77635212" y="57132618"/>
                  </a:lnTo>
                  <a:lnTo>
                    <a:pt x="77635212" y="144780"/>
                  </a:lnTo>
                  <a:close/>
                  <a:moveTo>
                    <a:pt x="144780" y="57132618"/>
                  </a:moveTo>
                  <a:lnTo>
                    <a:pt x="77635212" y="57132618"/>
                  </a:lnTo>
                  <a:lnTo>
                    <a:pt x="7763521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460" y="3834721"/>
            <a:ext cx="7804755" cy="1308779"/>
            <a:chOff x="0" y="0"/>
            <a:chExt cx="72570247" cy="1216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72425467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2425467">
                  <a:moveTo>
                    <a:pt x="0" y="0"/>
                  </a:moveTo>
                  <a:lnTo>
                    <a:pt x="72425467" y="0"/>
                  </a:lnTo>
                  <a:lnTo>
                    <a:pt x="72425467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70249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2570249">
                  <a:moveTo>
                    <a:pt x="72425465" y="12024519"/>
                  </a:moveTo>
                  <a:lnTo>
                    <a:pt x="72570249" y="12024519"/>
                  </a:lnTo>
                  <a:lnTo>
                    <a:pt x="72570249" y="12169299"/>
                  </a:lnTo>
                  <a:lnTo>
                    <a:pt x="72425465" y="12169299"/>
                  </a:lnTo>
                  <a:lnTo>
                    <a:pt x="72425465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2425465" y="144780"/>
                  </a:moveTo>
                  <a:lnTo>
                    <a:pt x="72570249" y="144780"/>
                  </a:lnTo>
                  <a:lnTo>
                    <a:pt x="72570249" y="12024519"/>
                  </a:lnTo>
                  <a:lnTo>
                    <a:pt x="72425465" y="12024519"/>
                  </a:lnTo>
                  <a:lnTo>
                    <a:pt x="72425465" y="144780"/>
                  </a:lnTo>
                  <a:close/>
                  <a:moveTo>
                    <a:pt x="144780" y="12024519"/>
                  </a:moveTo>
                  <a:lnTo>
                    <a:pt x="72425465" y="12024519"/>
                  </a:lnTo>
                  <a:lnTo>
                    <a:pt x="72425465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2425465" y="0"/>
                  </a:moveTo>
                  <a:lnTo>
                    <a:pt x="72570249" y="0"/>
                  </a:lnTo>
                  <a:lnTo>
                    <a:pt x="72570249" y="144780"/>
                  </a:lnTo>
                  <a:lnTo>
                    <a:pt x="72425465" y="144780"/>
                  </a:lnTo>
                  <a:lnTo>
                    <a:pt x="724254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2425465" y="0"/>
                  </a:lnTo>
                  <a:lnTo>
                    <a:pt x="724254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035154"/>
            <a:ext cx="73422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Definición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18371" y="3578822"/>
            <a:ext cx="8365050" cy="6160046"/>
            <a:chOff x="0" y="0"/>
            <a:chExt cx="77779993" cy="572773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77635214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9990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77779990">
                  <a:moveTo>
                    <a:pt x="77635212" y="57132618"/>
                  </a:moveTo>
                  <a:lnTo>
                    <a:pt x="77779990" y="57132618"/>
                  </a:lnTo>
                  <a:lnTo>
                    <a:pt x="77779990" y="57277397"/>
                  </a:lnTo>
                  <a:lnTo>
                    <a:pt x="77635212" y="57277397"/>
                  </a:lnTo>
                  <a:lnTo>
                    <a:pt x="7763521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57132618"/>
                  </a:lnTo>
                  <a:lnTo>
                    <a:pt x="77635212" y="57132618"/>
                  </a:lnTo>
                  <a:lnTo>
                    <a:pt x="77635212" y="144780"/>
                  </a:lnTo>
                  <a:close/>
                  <a:moveTo>
                    <a:pt x="144780" y="57132618"/>
                  </a:moveTo>
                  <a:lnTo>
                    <a:pt x="77635212" y="57132618"/>
                  </a:lnTo>
                  <a:lnTo>
                    <a:pt x="7763521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98519" y="3834721"/>
            <a:ext cx="7804755" cy="1308779"/>
            <a:chOff x="0" y="0"/>
            <a:chExt cx="72570247" cy="12169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2425467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2425467">
                  <a:moveTo>
                    <a:pt x="0" y="0"/>
                  </a:moveTo>
                  <a:lnTo>
                    <a:pt x="72425467" y="0"/>
                  </a:lnTo>
                  <a:lnTo>
                    <a:pt x="72425467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570249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2570249">
                  <a:moveTo>
                    <a:pt x="72425465" y="12024519"/>
                  </a:moveTo>
                  <a:lnTo>
                    <a:pt x="72570249" y="12024519"/>
                  </a:lnTo>
                  <a:lnTo>
                    <a:pt x="72570249" y="12169299"/>
                  </a:lnTo>
                  <a:lnTo>
                    <a:pt x="72425465" y="12169299"/>
                  </a:lnTo>
                  <a:lnTo>
                    <a:pt x="72425465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2425465" y="144780"/>
                  </a:moveTo>
                  <a:lnTo>
                    <a:pt x="72570249" y="144780"/>
                  </a:lnTo>
                  <a:lnTo>
                    <a:pt x="72570249" y="12024519"/>
                  </a:lnTo>
                  <a:lnTo>
                    <a:pt x="72425465" y="12024519"/>
                  </a:lnTo>
                  <a:lnTo>
                    <a:pt x="72425465" y="144780"/>
                  </a:lnTo>
                  <a:close/>
                  <a:moveTo>
                    <a:pt x="144780" y="12024519"/>
                  </a:moveTo>
                  <a:lnTo>
                    <a:pt x="72425465" y="12024519"/>
                  </a:lnTo>
                  <a:lnTo>
                    <a:pt x="72425465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2425465" y="0"/>
                  </a:moveTo>
                  <a:lnTo>
                    <a:pt x="72570249" y="0"/>
                  </a:lnTo>
                  <a:lnTo>
                    <a:pt x="72570249" y="144780"/>
                  </a:lnTo>
                  <a:lnTo>
                    <a:pt x="72425465" y="144780"/>
                  </a:lnTo>
                  <a:lnTo>
                    <a:pt x="724254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2425465" y="0"/>
                  </a:lnTo>
                  <a:lnTo>
                    <a:pt x="724254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9759" y="4035154"/>
            <a:ext cx="73422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Características Clave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486421"/>
            <a:ext cx="7342275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Paquete de Python para la creación, manipulación y estudio de la estructura, dinámica y funciones de redes complejas.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172075"/>
            <a:ext cx="8639422" cy="449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48" indent="-496574" lvl="1">
              <a:lnSpc>
                <a:spcPts val="5060"/>
              </a:lnSpc>
              <a:buFont typeface="Arial"/>
              <a:buChar char="•"/>
            </a:pPr>
            <a:r>
              <a:rPr lang="en-US" sz="4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Open Source: Licencia BSD (gratis y modificable). </a:t>
            </a:r>
          </a:p>
          <a:p>
            <a:pPr algn="l" marL="993148" indent="-496574" lvl="1">
              <a:lnSpc>
                <a:spcPts val="5060"/>
              </a:lnSpc>
              <a:buFont typeface="Arial"/>
              <a:buChar char="•"/>
            </a:pPr>
            <a:r>
              <a:rPr lang="en-US" sz="4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Pure Python: Fácil de instalar y depurar.</a:t>
            </a:r>
          </a:p>
          <a:p>
            <a:pPr algn="l" marL="993148" indent="-496574" lvl="1">
              <a:lnSpc>
                <a:spcPts val="5060"/>
              </a:lnSpc>
              <a:buFont typeface="Arial"/>
              <a:buChar char="•"/>
            </a:pPr>
            <a:r>
              <a:rPr lang="en-US" sz="4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Estándar: Se integra con NumPy, Matplotlib, Pandas y SciPy.</a:t>
            </a:r>
          </a:p>
          <a:p>
            <a:pPr algn="l" marL="993148" indent="-496574" lvl="1">
              <a:lnSpc>
                <a:spcPts val="5060"/>
              </a:lnSpc>
              <a:buFont typeface="Arial"/>
              <a:buChar char="•"/>
            </a:pPr>
            <a:r>
              <a:rPr lang="en-US" sz="4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Uso: Prototipado rápido y enseñanza.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147534"/>
            <a:chOff x="0" y="0"/>
            <a:chExt cx="160662311" cy="199682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19823437"/>
            </a:xfrm>
            <a:custGeom>
              <a:avLst/>
              <a:gdLst/>
              <a:ahLst/>
              <a:cxnLst/>
              <a:rect r="r" b="b" t="t" l="l"/>
              <a:pathLst>
                <a:path h="19823437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19823437"/>
                  </a:lnTo>
                  <a:lnTo>
                    <a:pt x="0" y="1982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19968218"/>
            </a:xfrm>
            <a:custGeom>
              <a:avLst/>
              <a:gdLst/>
              <a:ahLst/>
              <a:cxnLst/>
              <a:rect r="r" b="b" t="t" l="l"/>
              <a:pathLst>
                <a:path h="19968218" w="160662317">
                  <a:moveTo>
                    <a:pt x="160517532" y="19823438"/>
                  </a:moveTo>
                  <a:lnTo>
                    <a:pt x="160662317" y="19823438"/>
                  </a:lnTo>
                  <a:lnTo>
                    <a:pt x="160662317" y="19968218"/>
                  </a:lnTo>
                  <a:lnTo>
                    <a:pt x="160517532" y="19968218"/>
                  </a:lnTo>
                  <a:lnTo>
                    <a:pt x="160517532" y="1982343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823438"/>
                  </a:lnTo>
                  <a:lnTo>
                    <a:pt x="0" y="19823438"/>
                  </a:lnTo>
                  <a:lnTo>
                    <a:pt x="0" y="144780"/>
                  </a:lnTo>
                  <a:close/>
                  <a:moveTo>
                    <a:pt x="0" y="19823438"/>
                  </a:moveTo>
                  <a:lnTo>
                    <a:pt x="144780" y="19823438"/>
                  </a:lnTo>
                  <a:lnTo>
                    <a:pt x="144780" y="19968218"/>
                  </a:lnTo>
                  <a:lnTo>
                    <a:pt x="0" y="19968218"/>
                  </a:lnTo>
                  <a:lnTo>
                    <a:pt x="0" y="19823438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19823438"/>
                  </a:lnTo>
                  <a:lnTo>
                    <a:pt x="160517532" y="19823438"/>
                  </a:lnTo>
                  <a:lnTo>
                    <a:pt x="160517532" y="144780"/>
                  </a:lnTo>
                  <a:close/>
                  <a:moveTo>
                    <a:pt x="144780" y="19823438"/>
                  </a:moveTo>
                  <a:lnTo>
                    <a:pt x="160517532" y="19823438"/>
                  </a:lnTo>
                  <a:lnTo>
                    <a:pt x="160517532" y="19968218"/>
                  </a:lnTo>
                  <a:lnTo>
                    <a:pt x="144780" y="19968218"/>
                  </a:lnTo>
                  <a:lnTo>
                    <a:pt x="144780" y="19823438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4387" y="3190286"/>
            <a:ext cx="17839313" cy="6664497"/>
            <a:chOff x="0" y="0"/>
            <a:chExt cx="160662311" cy="600210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59876224"/>
            </a:xfrm>
            <a:custGeom>
              <a:avLst/>
              <a:gdLst/>
              <a:ahLst/>
              <a:cxnLst/>
              <a:rect r="r" b="b" t="t" l="l"/>
              <a:pathLst>
                <a:path h="59876224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59876224"/>
                  </a:lnTo>
                  <a:lnTo>
                    <a:pt x="0" y="59876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60021006"/>
            </a:xfrm>
            <a:custGeom>
              <a:avLst/>
              <a:gdLst/>
              <a:ahLst/>
              <a:cxnLst/>
              <a:rect r="r" b="b" t="t" l="l"/>
              <a:pathLst>
                <a:path h="60021006" w="160662317">
                  <a:moveTo>
                    <a:pt x="160517532" y="59876227"/>
                  </a:moveTo>
                  <a:lnTo>
                    <a:pt x="160662317" y="59876227"/>
                  </a:lnTo>
                  <a:lnTo>
                    <a:pt x="160662317" y="60021006"/>
                  </a:lnTo>
                  <a:lnTo>
                    <a:pt x="160517532" y="60021006"/>
                  </a:lnTo>
                  <a:lnTo>
                    <a:pt x="160517532" y="598762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9876227"/>
                  </a:lnTo>
                  <a:lnTo>
                    <a:pt x="0" y="59876227"/>
                  </a:lnTo>
                  <a:lnTo>
                    <a:pt x="0" y="144780"/>
                  </a:lnTo>
                  <a:close/>
                  <a:moveTo>
                    <a:pt x="0" y="59876227"/>
                  </a:moveTo>
                  <a:lnTo>
                    <a:pt x="144780" y="59876227"/>
                  </a:lnTo>
                  <a:lnTo>
                    <a:pt x="144780" y="60021006"/>
                  </a:lnTo>
                  <a:lnTo>
                    <a:pt x="0" y="60021006"/>
                  </a:lnTo>
                  <a:lnTo>
                    <a:pt x="0" y="59876227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59876227"/>
                  </a:lnTo>
                  <a:lnTo>
                    <a:pt x="160517532" y="59876227"/>
                  </a:lnTo>
                  <a:lnTo>
                    <a:pt x="160517532" y="144780"/>
                  </a:lnTo>
                  <a:close/>
                  <a:moveTo>
                    <a:pt x="144780" y="59876227"/>
                  </a:moveTo>
                  <a:lnTo>
                    <a:pt x="160517532" y="59876227"/>
                  </a:lnTo>
                  <a:lnTo>
                    <a:pt x="160517532" y="60021006"/>
                  </a:lnTo>
                  <a:lnTo>
                    <a:pt x="144780" y="60021006"/>
                  </a:lnTo>
                  <a:lnTo>
                    <a:pt x="144780" y="59876227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569340" y="4049665"/>
            <a:ext cx="9380552" cy="4945738"/>
          </a:xfrm>
          <a:custGeom>
            <a:avLst/>
            <a:gdLst/>
            <a:ahLst/>
            <a:cxnLst/>
            <a:rect r="r" b="b" t="t" l="l"/>
            <a:pathLst>
              <a:path h="4945738" w="9380552">
                <a:moveTo>
                  <a:pt x="0" y="0"/>
                </a:moveTo>
                <a:lnTo>
                  <a:pt x="9380553" y="0"/>
                </a:lnTo>
                <a:lnTo>
                  <a:pt x="9380553" y="4945738"/>
                </a:lnTo>
                <a:lnTo>
                  <a:pt x="0" y="4945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578" y="781050"/>
            <a:ext cx="17278844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¿QUÉ ES UN GRAFO?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8464" y="3205929"/>
            <a:ext cx="8675579" cy="668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Definición Formal: G = (V, E)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 (Vértices/Nodos): Puntos del grafo.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 (Aristas): Líneas que conectan los puntos.</a:t>
            </a:r>
          </a:p>
          <a:p>
            <a:pPr algn="l">
              <a:lnSpc>
                <a:spcPts val="5279"/>
              </a:lnSpc>
            </a:pPr>
            <a:r>
              <a:rPr lang="en-US" sz="4799" u="sng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Terminología: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Orden: Número de nodos.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Tamaño: Número de aristas.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Vecinos: Nodos conectados directamente.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569060"/>
            <a:chOff x="0" y="0"/>
            <a:chExt cx="160662311" cy="238876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23742882"/>
            </a:xfrm>
            <a:custGeom>
              <a:avLst/>
              <a:gdLst/>
              <a:ahLst/>
              <a:cxnLst/>
              <a:rect r="r" b="b" t="t" l="l"/>
              <a:pathLst>
                <a:path h="23742882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23742882"/>
                  </a:lnTo>
                  <a:lnTo>
                    <a:pt x="0" y="2374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23887661"/>
            </a:xfrm>
            <a:custGeom>
              <a:avLst/>
              <a:gdLst/>
              <a:ahLst/>
              <a:cxnLst/>
              <a:rect r="r" b="b" t="t" l="l"/>
              <a:pathLst>
                <a:path h="23887661" w="160662317">
                  <a:moveTo>
                    <a:pt x="160517532" y="23742881"/>
                  </a:moveTo>
                  <a:lnTo>
                    <a:pt x="160662317" y="23742881"/>
                  </a:lnTo>
                  <a:lnTo>
                    <a:pt x="160662317" y="23887661"/>
                  </a:lnTo>
                  <a:lnTo>
                    <a:pt x="160517532" y="23887661"/>
                  </a:lnTo>
                  <a:lnTo>
                    <a:pt x="160517532" y="237428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742881"/>
                  </a:lnTo>
                  <a:lnTo>
                    <a:pt x="0" y="23742881"/>
                  </a:lnTo>
                  <a:lnTo>
                    <a:pt x="0" y="144780"/>
                  </a:lnTo>
                  <a:close/>
                  <a:moveTo>
                    <a:pt x="0" y="23742881"/>
                  </a:moveTo>
                  <a:lnTo>
                    <a:pt x="144780" y="23742881"/>
                  </a:lnTo>
                  <a:lnTo>
                    <a:pt x="144780" y="23887661"/>
                  </a:lnTo>
                  <a:lnTo>
                    <a:pt x="0" y="23887661"/>
                  </a:lnTo>
                  <a:lnTo>
                    <a:pt x="0" y="23742881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23742881"/>
                  </a:lnTo>
                  <a:lnTo>
                    <a:pt x="160517532" y="23742881"/>
                  </a:lnTo>
                  <a:lnTo>
                    <a:pt x="160517532" y="144780"/>
                  </a:lnTo>
                  <a:close/>
                  <a:moveTo>
                    <a:pt x="144780" y="23742881"/>
                  </a:moveTo>
                  <a:lnTo>
                    <a:pt x="160517532" y="23742881"/>
                  </a:lnTo>
                  <a:lnTo>
                    <a:pt x="160517532" y="23887661"/>
                  </a:lnTo>
                  <a:lnTo>
                    <a:pt x="144780" y="23887661"/>
                  </a:lnTo>
                  <a:lnTo>
                    <a:pt x="144780" y="23742881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04578" y="3578822"/>
            <a:ext cx="17278844" cy="6160046"/>
            <a:chOff x="0" y="0"/>
            <a:chExt cx="160662311" cy="57277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160662317">
                  <a:moveTo>
                    <a:pt x="160517532" y="57132618"/>
                  </a:moveTo>
                  <a:lnTo>
                    <a:pt x="160662317" y="57132618"/>
                  </a:lnTo>
                  <a:lnTo>
                    <a:pt x="160662317" y="57277397"/>
                  </a:lnTo>
                  <a:lnTo>
                    <a:pt x="160517532" y="57277397"/>
                  </a:lnTo>
                  <a:lnTo>
                    <a:pt x="16051753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57132618"/>
                  </a:lnTo>
                  <a:lnTo>
                    <a:pt x="160517532" y="57132618"/>
                  </a:lnTo>
                  <a:lnTo>
                    <a:pt x="160517532" y="144780"/>
                  </a:lnTo>
                  <a:close/>
                  <a:moveTo>
                    <a:pt x="144780" y="57132618"/>
                  </a:moveTo>
                  <a:lnTo>
                    <a:pt x="160517532" y="57132618"/>
                  </a:lnTo>
                  <a:lnTo>
                    <a:pt x="16051753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4874222"/>
            <a:ext cx="10194587" cy="1075291"/>
          </a:xfrm>
          <a:custGeom>
            <a:avLst/>
            <a:gdLst/>
            <a:ahLst/>
            <a:cxnLst/>
            <a:rect r="r" b="b" t="t" l="l"/>
            <a:pathLst>
              <a:path h="1075291" w="10194587">
                <a:moveTo>
                  <a:pt x="0" y="0"/>
                </a:moveTo>
                <a:lnTo>
                  <a:pt x="10194587" y="0"/>
                </a:lnTo>
                <a:lnTo>
                  <a:pt x="10194587" y="1075291"/>
                </a:lnTo>
                <a:lnTo>
                  <a:pt x="0" y="107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687420"/>
            <a:ext cx="6998800" cy="1947247"/>
          </a:xfrm>
          <a:custGeom>
            <a:avLst/>
            <a:gdLst/>
            <a:ahLst/>
            <a:cxnLst/>
            <a:rect r="r" b="b" t="t" l="l"/>
            <a:pathLst>
              <a:path h="1947247" w="6998800">
                <a:moveTo>
                  <a:pt x="0" y="0"/>
                </a:moveTo>
                <a:lnTo>
                  <a:pt x="6998800" y="0"/>
                </a:lnTo>
                <a:lnTo>
                  <a:pt x="6998800" y="1947247"/>
                </a:lnTo>
                <a:lnTo>
                  <a:pt x="0" y="1947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783" y="3607397"/>
            <a:ext cx="1057512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7" indent="-485773" lvl="1">
              <a:lnSpc>
                <a:spcPts val="494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Requisitos: Python 3.8+</a:t>
            </a:r>
          </a:p>
          <a:p>
            <a:pPr algn="l" marL="971547" indent="-485773" lvl="1">
              <a:lnSpc>
                <a:spcPts val="494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Instalación (Terminal):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81050"/>
            <a:ext cx="16230600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 INSTALACIÓN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783" y="6039720"/>
            <a:ext cx="1057512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7" indent="-485773" lvl="1">
              <a:lnSpc>
                <a:spcPts val="494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Verificación: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61" y="216673"/>
            <a:ext cx="17901996" cy="9855136"/>
            <a:chOff x="0" y="0"/>
            <a:chExt cx="160662311" cy="88445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8300603"/>
            </a:xfrm>
            <a:custGeom>
              <a:avLst/>
              <a:gdLst/>
              <a:ahLst/>
              <a:cxnLst/>
              <a:rect r="r" b="b" t="t" l="l"/>
              <a:pathLst>
                <a:path h="88300603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8300603"/>
                  </a:lnTo>
                  <a:lnTo>
                    <a:pt x="0" y="88300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8445380"/>
            </a:xfrm>
            <a:custGeom>
              <a:avLst/>
              <a:gdLst/>
              <a:ahLst/>
              <a:cxnLst/>
              <a:rect r="r" b="b" t="t" l="l"/>
              <a:pathLst>
                <a:path h="88445380" w="160662317">
                  <a:moveTo>
                    <a:pt x="160517532" y="88300601"/>
                  </a:moveTo>
                  <a:lnTo>
                    <a:pt x="160662317" y="88300601"/>
                  </a:lnTo>
                  <a:lnTo>
                    <a:pt x="160662317" y="88445380"/>
                  </a:lnTo>
                  <a:lnTo>
                    <a:pt x="160517532" y="88445380"/>
                  </a:lnTo>
                  <a:lnTo>
                    <a:pt x="160517532" y="8830060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8300601"/>
                  </a:lnTo>
                  <a:lnTo>
                    <a:pt x="0" y="88300601"/>
                  </a:lnTo>
                  <a:lnTo>
                    <a:pt x="0" y="144780"/>
                  </a:lnTo>
                  <a:close/>
                  <a:moveTo>
                    <a:pt x="0" y="88300601"/>
                  </a:moveTo>
                  <a:lnTo>
                    <a:pt x="144780" y="88300601"/>
                  </a:lnTo>
                  <a:lnTo>
                    <a:pt x="144780" y="88445380"/>
                  </a:lnTo>
                  <a:lnTo>
                    <a:pt x="0" y="88445380"/>
                  </a:lnTo>
                  <a:lnTo>
                    <a:pt x="0" y="88300601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8300601"/>
                  </a:lnTo>
                  <a:lnTo>
                    <a:pt x="160517532" y="88300601"/>
                  </a:lnTo>
                  <a:lnTo>
                    <a:pt x="160517532" y="144780"/>
                  </a:lnTo>
                  <a:close/>
                  <a:moveTo>
                    <a:pt x="144780" y="88300601"/>
                  </a:moveTo>
                  <a:lnTo>
                    <a:pt x="160517532" y="88300601"/>
                  </a:lnTo>
                  <a:lnTo>
                    <a:pt x="160517532" y="88445380"/>
                  </a:lnTo>
                  <a:lnTo>
                    <a:pt x="144780" y="88445380"/>
                  </a:lnTo>
                  <a:lnTo>
                    <a:pt x="144780" y="88300601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200009"/>
          <a:ext cx="16587323" cy="7300943"/>
        </p:xfrm>
        <a:graphic>
          <a:graphicData uri="http://schemas.openxmlformats.org/drawingml/2006/table">
            <a:tbl>
              <a:tblPr/>
              <a:tblGrid>
                <a:gridCol w="2555759"/>
                <a:gridCol w="3819082"/>
                <a:gridCol w="5344604"/>
                <a:gridCol w="4867878"/>
              </a:tblGrid>
              <a:tr h="16421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2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No dirigido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(A ↔ B es igual a B ↔ A).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Sin bucles múltiples.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60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9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Dirigido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(A → B es distinto de B → A).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Ej: Twitter (seguir a alguien).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67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MultiGraph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2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Permite múltiples aristas entre dos nodos.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Ej: Mapas (dos rutas distintas entre dos ciudades).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60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MultiDiGraph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9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Dirigido con múltiples aristas.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04578" y="132409"/>
            <a:ext cx="17278844" cy="160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1"/>
              </a:lnSpc>
            </a:pPr>
            <a:r>
              <a:rPr lang="en-US" sz="9300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TIPOS DE GRAFOS EN NETWORKX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268336" y="1319899"/>
            <a:ext cx="19181395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NETWORKX.CLASSES - ESTRUCTURAS DE GRAFOS BASE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464" y="215191"/>
            <a:ext cx="17278844" cy="1307219"/>
            <a:chOff x="0" y="0"/>
            <a:chExt cx="160662311" cy="1215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12010021"/>
            </a:xfrm>
            <a:custGeom>
              <a:avLst/>
              <a:gdLst/>
              <a:ahLst/>
              <a:cxnLst/>
              <a:rect r="r" b="b" t="t" l="l"/>
              <a:pathLst>
                <a:path h="12010021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12010021"/>
                  </a:lnTo>
                  <a:lnTo>
                    <a:pt x="0" y="12010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12154800"/>
            </a:xfrm>
            <a:custGeom>
              <a:avLst/>
              <a:gdLst/>
              <a:ahLst/>
              <a:cxnLst/>
              <a:rect r="r" b="b" t="t" l="l"/>
              <a:pathLst>
                <a:path h="12154800" w="160662317">
                  <a:moveTo>
                    <a:pt x="160517532" y="12010020"/>
                  </a:moveTo>
                  <a:lnTo>
                    <a:pt x="160662317" y="12010020"/>
                  </a:lnTo>
                  <a:lnTo>
                    <a:pt x="160662317" y="12154800"/>
                  </a:lnTo>
                  <a:lnTo>
                    <a:pt x="160517532" y="12154800"/>
                  </a:lnTo>
                  <a:lnTo>
                    <a:pt x="160517532" y="120100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10020"/>
                  </a:lnTo>
                  <a:lnTo>
                    <a:pt x="0" y="12010020"/>
                  </a:lnTo>
                  <a:lnTo>
                    <a:pt x="0" y="144780"/>
                  </a:lnTo>
                  <a:close/>
                  <a:moveTo>
                    <a:pt x="0" y="12010020"/>
                  </a:moveTo>
                  <a:lnTo>
                    <a:pt x="144780" y="12010020"/>
                  </a:lnTo>
                  <a:lnTo>
                    <a:pt x="144780" y="12154800"/>
                  </a:lnTo>
                  <a:lnTo>
                    <a:pt x="0" y="12154800"/>
                  </a:lnTo>
                  <a:lnTo>
                    <a:pt x="0" y="12010020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12010020"/>
                  </a:lnTo>
                  <a:lnTo>
                    <a:pt x="160517532" y="12010020"/>
                  </a:lnTo>
                  <a:lnTo>
                    <a:pt x="160517532" y="144780"/>
                  </a:lnTo>
                  <a:close/>
                  <a:moveTo>
                    <a:pt x="144780" y="12010020"/>
                  </a:moveTo>
                  <a:lnTo>
                    <a:pt x="160517532" y="12010020"/>
                  </a:lnTo>
                  <a:lnTo>
                    <a:pt x="160517532" y="12154800"/>
                  </a:lnTo>
                  <a:lnTo>
                    <a:pt x="144780" y="12154800"/>
                  </a:lnTo>
                  <a:lnTo>
                    <a:pt x="144780" y="12010020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4387" y="1692049"/>
            <a:ext cx="17839313" cy="8162734"/>
            <a:chOff x="0" y="0"/>
            <a:chExt cx="160662311" cy="735142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73369465"/>
            </a:xfrm>
            <a:custGeom>
              <a:avLst/>
              <a:gdLst/>
              <a:ahLst/>
              <a:cxnLst/>
              <a:rect r="r" b="b" t="t" l="l"/>
              <a:pathLst>
                <a:path h="73369465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73369465"/>
                  </a:lnTo>
                  <a:lnTo>
                    <a:pt x="0" y="73369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73514248"/>
            </a:xfrm>
            <a:custGeom>
              <a:avLst/>
              <a:gdLst/>
              <a:ahLst/>
              <a:cxnLst/>
              <a:rect r="r" b="b" t="t" l="l"/>
              <a:pathLst>
                <a:path h="73514248" w="160662317">
                  <a:moveTo>
                    <a:pt x="160517532" y="73369469"/>
                  </a:moveTo>
                  <a:lnTo>
                    <a:pt x="160662317" y="73369469"/>
                  </a:lnTo>
                  <a:lnTo>
                    <a:pt x="160662317" y="73514248"/>
                  </a:lnTo>
                  <a:lnTo>
                    <a:pt x="160517532" y="73514248"/>
                  </a:lnTo>
                  <a:lnTo>
                    <a:pt x="160517532" y="7336946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369469"/>
                  </a:lnTo>
                  <a:lnTo>
                    <a:pt x="0" y="73369469"/>
                  </a:lnTo>
                  <a:lnTo>
                    <a:pt x="0" y="144780"/>
                  </a:lnTo>
                  <a:close/>
                  <a:moveTo>
                    <a:pt x="0" y="73369469"/>
                  </a:moveTo>
                  <a:lnTo>
                    <a:pt x="144780" y="73369469"/>
                  </a:lnTo>
                  <a:lnTo>
                    <a:pt x="144780" y="73514248"/>
                  </a:lnTo>
                  <a:lnTo>
                    <a:pt x="0" y="73514248"/>
                  </a:lnTo>
                  <a:lnTo>
                    <a:pt x="0" y="73369469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73369469"/>
                  </a:lnTo>
                  <a:lnTo>
                    <a:pt x="160517532" y="73369469"/>
                  </a:lnTo>
                  <a:lnTo>
                    <a:pt x="160517532" y="144780"/>
                  </a:lnTo>
                  <a:close/>
                  <a:moveTo>
                    <a:pt x="144780" y="73369469"/>
                  </a:moveTo>
                  <a:lnTo>
                    <a:pt x="160517532" y="73369469"/>
                  </a:lnTo>
                  <a:lnTo>
                    <a:pt x="160517532" y="73514248"/>
                  </a:lnTo>
                  <a:lnTo>
                    <a:pt x="144780" y="73514248"/>
                  </a:lnTo>
                  <a:lnTo>
                    <a:pt x="144780" y="73369469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8464" y="411165"/>
            <a:ext cx="17278844" cy="10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ESTRUCTURA DE LA DOCUMENTACIÓN DE NETWORKX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4164" y="1720624"/>
            <a:ext cx="13353506" cy="848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1. networkx.algorithms - El Cerebro de NetworkX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¿Qué es?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Es el módulo más grande y potente de NetworkX. Con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tiene toda la inteligencia computacional de la librería: más de 400 algoritmos de teoría de grafos ya implementados y opti</a:t>
            </a:r>
            <a:r>
              <a:rPr lang="en-US" sz="2400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mi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z</a:t>
            </a:r>
            <a:r>
              <a:rPr lang="en-US" sz="2400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dos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.¿Para qué sirve?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Permite analizar grafos sin tener que implementar algoritmos complejos desde cero. </a:t>
            </a:r>
          </a:p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2. networkx.generators 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¿Qué es?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Es el módulo que permite crear grafos automáticamente con propiedades específicas, sin tener que añadir nodo por nodo manualmente.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¿Para qué sirve? 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Generar grafos de prueba, simular redes realistas, o crear estructuras específicas para experimentación. Es fundamental para testing, investigación y modelado.</a:t>
            </a:r>
          </a:p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3. networkx.drawing </a:t>
            </a:r>
          </a:p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¿Qué es?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Es el módulo de visualización que te permite convertir datos abstractos (nodos y aristas) en imágenes comprensibles para humanos.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¿Para qué sirve?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Hacer que los grafos sean visibles y entendibles. Un grafo puede tener miles de conexiones; visualizarlo te ayuda a detectar patrones, anomalías, o simplemente comunicar resultados.</a:t>
            </a:r>
          </a:p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4. networkx.readwrite </a:t>
            </a:r>
          </a:p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¿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Qué es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? Es el módulo de entrada/salida que permite guardar tus grafos en archivos y cargar grafos desde archivos externos. 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¿Para qué sirve?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Para persistencia, interoperabilidad y colaboración. Tus grafos pueden venir de bases de datos, archivos CSV, otros programas.</a:t>
            </a:r>
          </a:p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5. networkx.convert</a:t>
            </a:r>
          </a:p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¿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Qué es?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Es el módulo de conversión entre representaciones. Un grafo puede representarse de muchas formas matemáticas; este módulo traduce entre ellas. </a:t>
            </a:r>
            <a:r>
              <a:rPr lang="en-US" sz="24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¿Para qué sirve? </a:t>
            </a:r>
            <a:r>
              <a:rPr lang="en-US" sz="24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Para interoperabilidad con librerías científicas (NumPy, SciPy, pandas) y para optimizar operaciones específicas. Algunas tareas se hacen mejor con matrices, otras con diccionarios.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584886" y="2490720"/>
            <a:ext cx="3192422" cy="3282696"/>
          </a:xfrm>
          <a:custGeom>
            <a:avLst/>
            <a:gdLst/>
            <a:ahLst/>
            <a:cxnLst/>
            <a:rect r="r" b="b" t="t" l="l"/>
            <a:pathLst>
              <a:path h="3282696" w="3192422">
                <a:moveTo>
                  <a:pt x="0" y="0"/>
                </a:moveTo>
                <a:lnTo>
                  <a:pt x="3192422" y="0"/>
                </a:lnTo>
                <a:lnTo>
                  <a:pt x="3192422" y="3282696"/>
                </a:lnTo>
                <a:lnTo>
                  <a:pt x="0" y="3282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72811" y="5773416"/>
            <a:ext cx="3192422" cy="3282696"/>
          </a:xfrm>
          <a:custGeom>
            <a:avLst/>
            <a:gdLst/>
            <a:ahLst/>
            <a:cxnLst/>
            <a:rect r="r" b="b" t="t" l="l"/>
            <a:pathLst>
              <a:path h="3282696" w="3192422">
                <a:moveTo>
                  <a:pt x="0" y="0"/>
                </a:moveTo>
                <a:lnTo>
                  <a:pt x="3192422" y="0"/>
                </a:lnTo>
                <a:lnTo>
                  <a:pt x="3192422" y="3282696"/>
                </a:lnTo>
                <a:lnTo>
                  <a:pt x="0" y="3282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3345" y="548132"/>
            <a:ext cx="17584204" cy="9190735"/>
            <a:chOff x="0" y="0"/>
            <a:chExt cx="163501612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3356828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3356828">
                  <a:moveTo>
                    <a:pt x="0" y="0"/>
                  </a:moveTo>
                  <a:lnTo>
                    <a:pt x="163356828" y="0"/>
                  </a:lnTo>
                  <a:lnTo>
                    <a:pt x="163356828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501611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3501611">
                  <a:moveTo>
                    <a:pt x="163356838" y="85312603"/>
                  </a:moveTo>
                  <a:lnTo>
                    <a:pt x="163501611" y="85312603"/>
                  </a:lnTo>
                  <a:lnTo>
                    <a:pt x="163501611" y="85457382"/>
                  </a:lnTo>
                  <a:lnTo>
                    <a:pt x="163356838" y="85457382"/>
                  </a:lnTo>
                  <a:lnTo>
                    <a:pt x="163356838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3356838" y="144780"/>
                  </a:moveTo>
                  <a:lnTo>
                    <a:pt x="163501611" y="144780"/>
                  </a:lnTo>
                  <a:lnTo>
                    <a:pt x="163501611" y="85312603"/>
                  </a:lnTo>
                  <a:lnTo>
                    <a:pt x="163356838" y="85312603"/>
                  </a:lnTo>
                  <a:lnTo>
                    <a:pt x="163356838" y="144780"/>
                  </a:lnTo>
                  <a:close/>
                  <a:moveTo>
                    <a:pt x="144780" y="85312603"/>
                  </a:moveTo>
                  <a:lnTo>
                    <a:pt x="163356838" y="85312603"/>
                  </a:lnTo>
                  <a:lnTo>
                    <a:pt x="163356838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3356838" y="0"/>
                  </a:moveTo>
                  <a:lnTo>
                    <a:pt x="163501611" y="0"/>
                  </a:lnTo>
                  <a:lnTo>
                    <a:pt x="163501611" y="144780"/>
                  </a:lnTo>
                  <a:lnTo>
                    <a:pt x="163356838" y="144780"/>
                  </a:lnTo>
                  <a:lnTo>
                    <a:pt x="16335683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3356838" y="0"/>
                  </a:lnTo>
                  <a:lnTo>
                    <a:pt x="16335683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512252"/>
            <a:ext cx="16078983" cy="5205571"/>
          </a:xfrm>
          <a:custGeom>
            <a:avLst/>
            <a:gdLst/>
            <a:ahLst/>
            <a:cxnLst/>
            <a:rect r="r" b="b" t="t" l="l"/>
            <a:pathLst>
              <a:path h="5205571" w="16078983">
                <a:moveTo>
                  <a:pt x="0" y="0"/>
                </a:moveTo>
                <a:lnTo>
                  <a:pt x="16078983" y="0"/>
                </a:lnTo>
                <a:lnTo>
                  <a:pt x="16078983" y="5205571"/>
                </a:lnTo>
                <a:lnTo>
                  <a:pt x="0" y="5205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70569" y="592773"/>
            <a:ext cx="9589755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Creación y Manipulación de Grafos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1742" y="6934533"/>
            <a:ext cx="17247409" cy="292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Todo empieza importando la librería con el alias nx, aquí no necesitamos definir el tamaño al principio; el grafo crece dinámicamente. Un nodo no tiene que ser solo un número. Puede ser una palabra, una coordenada GPS o incluso una imagen. Una vez tenemos nodos, creamos las relaciones. Con add_edge conectamos el nodo 1 con el 2. Si intentamos conectar nodos que no existen, NetworkX los crea automáticamente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866775"/>
            <a:ext cx="16230600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ALGORITMOS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244724"/>
            <a:ext cx="8111312" cy="7494143"/>
            <a:chOff x="0" y="0"/>
            <a:chExt cx="77779993" cy="718619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77635214" cy="71717132"/>
            </a:xfrm>
            <a:custGeom>
              <a:avLst/>
              <a:gdLst/>
              <a:ahLst/>
              <a:cxnLst/>
              <a:rect r="r" b="b" t="t" l="l"/>
              <a:pathLst>
                <a:path h="71717132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71717132"/>
                  </a:lnTo>
                  <a:lnTo>
                    <a:pt x="0" y="71717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9990" cy="71861914"/>
            </a:xfrm>
            <a:custGeom>
              <a:avLst/>
              <a:gdLst/>
              <a:ahLst/>
              <a:cxnLst/>
              <a:rect r="r" b="b" t="t" l="l"/>
              <a:pathLst>
                <a:path h="71861914" w="77779990">
                  <a:moveTo>
                    <a:pt x="77635212" y="71717136"/>
                  </a:moveTo>
                  <a:lnTo>
                    <a:pt x="77779990" y="71717136"/>
                  </a:lnTo>
                  <a:lnTo>
                    <a:pt x="77779990" y="71861914"/>
                  </a:lnTo>
                  <a:lnTo>
                    <a:pt x="77635212" y="71861914"/>
                  </a:lnTo>
                  <a:lnTo>
                    <a:pt x="77635212" y="717171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1717136"/>
                  </a:lnTo>
                  <a:lnTo>
                    <a:pt x="0" y="71717136"/>
                  </a:lnTo>
                  <a:lnTo>
                    <a:pt x="0" y="144780"/>
                  </a:lnTo>
                  <a:close/>
                  <a:moveTo>
                    <a:pt x="0" y="71717136"/>
                  </a:moveTo>
                  <a:lnTo>
                    <a:pt x="144780" y="71717136"/>
                  </a:lnTo>
                  <a:lnTo>
                    <a:pt x="144780" y="71861914"/>
                  </a:lnTo>
                  <a:lnTo>
                    <a:pt x="0" y="71861914"/>
                  </a:lnTo>
                  <a:lnTo>
                    <a:pt x="0" y="71717136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71717136"/>
                  </a:lnTo>
                  <a:lnTo>
                    <a:pt x="77635212" y="71717136"/>
                  </a:lnTo>
                  <a:lnTo>
                    <a:pt x="77635212" y="144780"/>
                  </a:lnTo>
                  <a:close/>
                  <a:moveTo>
                    <a:pt x="144780" y="71717136"/>
                  </a:moveTo>
                  <a:lnTo>
                    <a:pt x="77635212" y="71717136"/>
                  </a:lnTo>
                  <a:lnTo>
                    <a:pt x="77635212" y="71861914"/>
                  </a:lnTo>
                  <a:lnTo>
                    <a:pt x="144780" y="71861914"/>
                  </a:lnTo>
                  <a:lnTo>
                    <a:pt x="144780" y="71717136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12698" y="2244724"/>
            <a:ext cx="7568012" cy="1269079"/>
            <a:chOff x="0" y="0"/>
            <a:chExt cx="72570247" cy="1216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72425467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2425467">
                  <a:moveTo>
                    <a:pt x="0" y="0"/>
                  </a:moveTo>
                  <a:lnTo>
                    <a:pt x="72425467" y="0"/>
                  </a:lnTo>
                  <a:lnTo>
                    <a:pt x="72425467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70249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2570249">
                  <a:moveTo>
                    <a:pt x="72425465" y="12024519"/>
                  </a:moveTo>
                  <a:lnTo>
                    <a:pt x="72570249" y="12024519"/>
                  </a:lnTo>
                  <a:lnTo>
                    <a:pt x="72570249" y="12169299"/>
                  </a:lnTo>
                  <a:lnTo>
                    <a:pt x="72425465" y="12169299"/>
                  </a:lnTo>
                  <a:lnTo>
                    <a:pt x="72425465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2425465" y="144780"/>
                  </a:moveTo>
                  <a:lnTo>
                    <a:pt x="72570249" y="144780"/>
                  </a:lnTo>
                  <a:lnTo>
                    <a:pt x="72570249" y="12024519"/>
                  </a:lnTo>
                  <a:lnTo>
                    <a:pt x="72425465" y="12024519"/>
                  </a:lnTo>
                  <a:lnTo>
                    <a:pt x="72425465" y="144780"/>
                  </a:lnTo>
                  <a:close/>
                  <a:moveTo>
                    <a:pt x="144780" y="12024519"/>
                  </a:moveTo>
                  <a:lnTo>
                    <a:pt x="72425465" y="12024519"/>
                  </a:lnTo>
                  <a:lnTo>
                    <a:pt x="72425465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2425465" y="0"/>
                  </a:moveTo>
                  <a:lnTo>
                    <a:pt x="72570249" y="0"/>
                  </a:lnTo>
                  <a:lnTo>
                    <a:pt x="72570249" y="144780"/>
                  </a:lnTo>
                  <a:lnTo>
                    <a:pt x="72425465" y="144780"/>
                  </a:lnTo>
                  <a:lnTo>
                    <a:pt x="724254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2425465" y="0"/>
                  </a:lnTo>
                  <a:lnTo>
                    <a:pt x="724254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6924" y="2474032"/>
            <a:ext cx="7119560" cy="84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5818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Algoritmos de Centralidad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72110" y="2244724"/>
            <a:ext cx="8111312" cy="7494143"/>
            <a:chOff x="0" y="0"/>
            <a:chExt cx="77779993" cy="718619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77635214" cy="71717132"/>
            </a:xfrm>
            <a:custGeom>
              <a:avLst/>
              <a:gdLst/>
              <a:ahLst/>
              <a:cxnLst/>
              <a:rect r="r" b="b" t="t" l="l"/>
              <a:pathLst>
                <a:path h="71717132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71717132"/>
                  </a:lnTo>
                  <a:lnTo>
                    <a:pt x="0" y="71717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9990" cy="71861914"/>
            </a:xfrm>
            <a:custGeom>
              <a:avLst/>
              <a:gdLst/>
              <a:ahLst/>
              <a:cxnLst/>
              <a:rect r="r" b="b" t="t" l="l"/>
              <a:pathLst>
                <a:path h="71861914" w="77779990">
                  <a:moveTo>
                    <a:pt x="77635212" y="71717136"/>
                  </a:moveTo>
                  <a:lnTo>
                    <a:pt x="77779990" y="71717136"/>
                  </a:lnTo>
                  <a:lnTo>
                    <a:pt x="77779990" y="71861914"/>
                  </a:lnTo>
                  <a:lnTo>
                    <a:pt x="77635212" y="71861914"/>
                  </a:lnTo>
                  <a:lnTo>
                    <a:pt x="77635212" y="717171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1717136"/>
                  </a:lnTo>
                  <a:lnTo>
                    <a:pt x="0" y="71717136"/>
                  </a:lnTo>
                  <a:lnTo>
                    <a:pt x="0" y="144780"/>
                  </a:lnTo>
                  <a:close/>
                  <a:moveTo>
                    <a:pt x="0" y="71717136"/>
                  </a:moveTo>
                  <a:lnTo>
                    <a:pt x="144780" y="71717136"/>
                  </a:lnTo>
                  <a:lnTo>
                    <a:pt x="144780" y="71861914"/>
                  </a:lnTo>
                  <a:lnTo>
                    <a:pt x="0" y="71861914"/>
                  </a:lnTo>
                  <a:lnTo>
                    <a:pt x="0" y="71717136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71717136"/>
                  </a:lnTo>
                  <a:lnTo>
                    <a:pt x="77635212" y="71717136"/>
                  </a:lnTo>
                  <a:lnTo>
                    <a:pt x="77635212" y="144780"/>
                  </a:lnTo>
                  <a:close/>
                  <a:moveTo>
                    <a:pt x="144780" y="71717136"/>
                  </a:moveTo>
                  <a:lnTo>
                    <a:pt x="77635212" y="71717136"/>
                  </a:lnTo>
                  <a:lnTo>
                    <a:pt x="77635212" y="71861914"/>
                  </a:lnTo>
                  <a:lnTo>
                    <a:pt x="144780" y="71861914"/>
                  </a:lnTo>
                  <a:lnTo>
                    <a:pt x="144780" y="71717136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05862" y="2244724"/>
            <a:ext cx="7472886" cy="1269079"/>
            <a:chOff x="0" y="0"/>
            <a:chExt cx="71658075" cy="12169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1513293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1513293">
                  <a:moveTo>
                    <a:pt x="0" y="0"/>
                  </a:moveTo>
                  <a:lnTo>
                    <a:pt x="71513293" y="0"/>
                  </a:lnTo>
                  <a:lnTo>
                    <a:pt x="71513293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658076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1658076">
                  <a:moveTo>
                    <a:pt x="71513297" y="12024519"/>
                  </a:moveTo>
                  <a:lnTo>
                    <a:pt x="71658076" y="12024519"/>
                  </a:lnTo>
                  <a:lnTo>
                    <a:pt x="71658076" y="12169299"/>
                  </a:lnTo>
                  <a:lnTo>
                    <a:pt x="71513297" y="12169299"/>
                  </a:lnTo>
                  <a:lnTo>
                    <a:pt x="71513297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1513297" y="144780"/>
                  </a:moveTo>
                  <a:lnTo>
                    <a:pt x="71658076" y="144780"/>
                  </a:lnTo>
                  <a:lnTo>
                    <a:pt x="71658076" y="12024519"/>
                  </a:lnTo>
                  <a:lnTo>
                    <a:pt x="71513297" y="12024519"/>
                  </a:lnTo>
                  <a:lnTo>
                    <a:pt x="71513297" y="144780"/>
                  </a:lnTo>
                  <a:close/>
                  <a:moveTo>
                    <a:pt x="144780" y="12024519"/>
                  </a:moveTo>
                  <a:lnTo>
                    <a:pt x="71513297" y="12024519"/>
                  </a:lnTo>
                  <a:lnTo>
                    <a:pt x="71513297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1513297" y="0"/>
                  </a:moveTo>
                  <a:lnTo>
                    <a:pt x="71658076" y="0"/>
                  </a:lnTo>
                  <a:lnTo>
                    <a:pt x="71658076" y="144780"/>
                  </a:lnTo>
                  <a:lnTo>
                    <a:pt x="71513297" y="144780"/>
                  </a:lnTo>
                  <a:lnTo>
                    <a:pt x="715132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1513297" y="0"/>
                  </a:lnTo>
                  <a:lnTo>
                    <a:pt x="715132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49078" y="2464507"/>
            <a:ext cx="7238468" cy="66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sz="45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Caminos más cortos (Shortest Path)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048" y="3615563"/>
            <a:ext cx="8111312" cy="612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4840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Degree Centrality: El que tiene más amigos.</a:t>
            </a:r>
          </a:p>
          <a:p>
            <a:pPr algn="l" marL="949961" indent="-474980" lvl="1">
              <a:lnSpc>
                <a:spcPts val="4840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Betweenness Centrality: El que actúa como "puente" (controla el flujo).</a:t>
            </a:r>
          </a:p>
          <a:p>
            <a:pPr algn="l" marL="949961" indent="-474980" lvl="1">
              <a:lnSpc>
                <a:spcPts val="4840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Closeness Centrality: El que está más cerca de todos (llega rápido).</a:t>
            </a:r>
          </a:p>
          <a:p>
            <a:pPr algn="l">
              <a:lnSpc>
                <a:spcPts val="4840"/>
              </a:lnSpc>
            </a:pPr>
            <a:r>
              <a:rPr lang="en-US" sz="4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Aquí entramos en ciencia de datos. No todos los nodos son iguales. Un nodo puede tener pocos amigos pero ser vital porque conecta dos grupos grandes.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05862" y="3615563"/>
            <a:ext cx="7877560" cy="621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3022" indent="-481511" lvl="1">
              <a:lnSpc>
                <a:spcPts val="4906"/>
              </a:lnSpc>
              <a:buFont typeface="Arial"/>
              <a:buChar char="•"/>
            </a:pPr>
            <a:r>
              <a:rPr lang="en-US" sz="446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Problema: ¿Cómo voy de A a B gastando menos?</a:t>
            </a:r>
          </a:p>
          <a:p>
            <a:pPr algn="l" marL="963022" indent="-481511" lvl="1">
              <a:lnSpc>
                <a:spcPts val="4906"/>
              </a:lnSpc>
              <a:buFont typeface="Arial"/>
              <a:buChar char="•"/>
            </a:pPr>
            <a:r>
              <a:rPr lang="en-US" sz="446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Algoritmo: Dijkstra (automático si hay pesos).</a:t>
            </a:r>
          </a:p>
          <a:p>
            <a:pPr algn="l">
              <a:lnSpc>
                <a:spcPts val="4906"/>
              </a:lnSpc>
            </a:pPr>
            <a:r>
              <a:rPr lang="en-US" sz="446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Este es el algoritmo que usa Google Maps. Le pedimos a NetworkX el camino más corto entre dos puntos considerando el "peso" (distancia o tráfico), y nos devuelve la lista exacta de nodos que debemos recorrer.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147534"/>
            <a:chOff x="0" y="0"/>
            <a:chExt cx="160662311" cy="199682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19823437"/>
            </a:xfrm>
            <a:custGeom>
              <a:avLst/>
              <a:gdLst/>
              <a:ahLst/>
              <a:cxnLst/>
              <a:rect r="r" b="b" t="t" l="l"/>
              <a:pathLst>
                <a:path h="19823437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19823437"/>
                  </a:lnTo>
                  <a:lnTo>
                    <a:pt x="0" y="1982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19968218"/>
            </a:xfrm>
            <a:custGeom>
              <a:avLst/>
              <a:gdLst/>
              <a:ahLst/>
              <a:cxnLst/>
              <a:rect r="r" b="b" t="t" l="l"/>
              <a:pathLst>
                <a:path h="19968218" w="160662317">
                  <a:moveTo>
                    <a:pt x="160517532" y="19823438"/>
                  </a:moveTo>
                  <a:lnTo>
                    <a:pt x="160662317" y="19823438"/>
                  </a:lnTo>
                  <a:lnTo>
                    <a:pt x="160662317" y="19968218"/>
                  </a:lnTo>
                  <a:lnTo>
                    <a:pt x="160517532" y="19968218"/>
                  </a:lnTo>
                  <a:lnTo>
                    <a:pt x="160517532" y="1982343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823438"/>
                  </a:lnTo>
                  <a:lnTo>
                    <a:pt x="0" y="19823438"/>
                  </a:lnTo>
                  <a:lnTo>
                    <a:pt x="0" y="144780"/>
                  </a:lnTo>
                  <a:close/>
                  <a:moveTo>
                    <a:pt x="0" y="19823438"/>
                  </a:moveTo>
                  <a:lnTo>
                    <a:pt x="144780" y="19823438"/>
                  </a:lnTo>
                  <a:lnTo>
                    <a:pt x="144780" y="19968218"/>
                  </a:lnTo>
                  <a:lnTo>
                    <a:pt x="0" y="19968218"/>
                  </a:lnTo>
                  <a:lnTo>
                    <a:pt x="0" y="19823438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19823438"/>
                  </a:lnTo>
                  <a:lnTo>
                    <a:pt x="160517532" y="19823438"/>
                  </a:lnTo>
                  <a:lnTo>
                    <a:pt x="160517532" y="144780"/>
                  </a:lnTo>
                  <a:close/>
                  <a:moveTo>
                    <a:pt x="144780" y="19823438"/>
                  </a:moveTo>
                  <a:lnTo>
                    <a:pt x="160517532" y="19823438"/>
                  </a:lnTo>
                  <a:lnTo>
                    <a:pt x="160517532" y="19968218"/>
                  </a:lnTo>
                  <a:lnTo>
                    <a:pt x="144780" y="19968218"/>
                  </a:lnTo>
                  <a:lnTo>
                    <a:pt x="144780" y="19823438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4387" y="3190286"/>
            <a:ext cx="17839313" cy="6664497"/>
            <a:chOff x="0" y="0"/>
            <a:chExt cx="160662311" cy="600210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59876224"/>
            </a:xfrm>
            <a:custGeom>
              <a:avLst/>
              <a:gdLst/>
              <a:ahLst/>
              <a:cxnLst/>
              <a:rect r="r" b="b" t="t" l="l"/>
              <a:pathLst>
                <a:path h="59876224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59876224"/>
                  </a:lnTo>
                  <a:lnTo>
                    <a:pt x="0" y="59876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60021006"/>
            </a:xfrm>
            <a:custGeom>
              <a:avLst/>
              <a:gdLst/>
              <a:ahLst/>
              <a:cxnLst/>
              <a:rect r="r" b="b" t="t" l="l"/>
              <a:pathLst>
                <a:path h="60021006" w="160662317">
                  <a:moveTo>
                    <a:pt x="160517532" y="59876227"/>
                  </a:moveTo>
                  <a:lnTo>
                    <a:pt x="160662317" y="59876227"/>
                  </a:lnTo>
                  <a:lnTo>
                    <a:pt x="160662317" y="60021006"/>
                  </a:lnTo>
                  <a:lnTo>
                    <a:pt x="160517532" y="60021006"/>
                  </a:lnTo>
                  <a:lnTo>
                    <a:pt x="160517532" y="598762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9876227"/>
                  </a:lnTo>
                  <a:lnTo>
                    <a:pt x="0" y="59876227"/>
                  </a:lnTo>
                  <a:lnTo>
                    <a:pt x="0" y="144780"/>
                  </a:lnTo>
                  <a:close/>
                  <a:moveTo>
                    <a:pt x="0" y="59876227"/>
                  </a:moveTo>
                  <a:lnTo>
                    <a:pt x="144780" y="59876227"/>
                  </a:lnTo>
                  <a:lnTo>
                    <a:pt x="144780" y="60021006"/>
                  </a:lnTo>
                  <a:lnTo>
                    <a:pt x="0" y="60021006"/>
                  </a:lnTo>
                  <a:lnTo>
                    <a:pt x="0" y="59876227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59876227"/>
                  </a:lnTo>
                  <a:lnTo>
                    <a:pt x="160517532" y="59876227"/>
                  </a:lnTo>
                  <a:lnTo>
                    <a:pt x="160517532" y="144780"/>
                  </a:lnTo>
                  <a:close/>
                  <a:moveTo>
                    <a:pt x="144780" y="59876227"/>
                  </a:moveTo>
                  <a:lnTo>
                    <a:pt x="160517532" y="59876227"/>
                  </a:lnTo>
                  <a:lnTo>
                    <a:pt x="160517532" y="60021006"/>
                  </a:lnTo>
                  <a:lnTo>
                    <a:pt x="144780" y="60021006"/>
                  </a:lnTo>
                  <a:lnTo>
                    <a:pt x="144780" y="59876227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495158" y="4598469"/>
            <a:ext cx="10288264" cy="3848130"/>
          </a:xfrm>
          <a:custGeom>
            <a:avLst/>
            <a:gdLst/>
            <a:ahLst/>
            <a:cxnLst/>
            <a:rect r="r" b="b" t="t" l="l"/>
            <a:pathLst>
              <a:path h="3848130" w="10288264">
                <a:moveTo>
                  <a:pt x="0" y="0"/>
                </a:moveTo>
                <a:lnTo>
                  <a:pt x="10288264" y="0"/>
                </a:lnTo>
                <a:lnTo>
                  <a:pt x="10288264" y="3848130"/>
                </a:lnTo>
                <a:lnTo>
                  <a:pt x="0" y="384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578" y="847725"/>
            <a:ext cx="17278844" cy="151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VISUALIZACIÓN DE GRAFOS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8464" y="3205929"/>
            <a:ext cx="6344989" cy="73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Integración con Matplotlib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Diferentes layouts: spring, circular, random, shell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Personalización: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Colores de nodos y aristas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Tamaño y etiquetas</a:t>
            </a:r>
          </a:p>
          <a:p>
            <a:pPr algn="l" marL="1036315" indent="-518158" lvl="1">
              <a:lnSpc>
                <a:spcPts val="527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Visualización básica y rápida</a:t>
            </a:r>
          </a:p>
          <a:p>
            <a:pPr algn="l">
              <a:lnSpc>
                <a:spcPts val="52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464" y="215191"/>
            <a:ext cx="17278844" cy="1307219"/>
            <a:chOff x="0" y="0"/>
            <a:chExt cx="160662311" cy="1215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12010021"/>
            </a:xfrm>
            <a:custGeom>
              <a:avLst/>
              <a:gdLst/>
              <a:ahLst/>
              <a:cxnLst/>
              <a:rect r="r" b="b" t="t" l="l"/>
              <a:pathLst>
                <a:path h="12010021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12010021"/>
                  </a:lnTo>
                  <a:lnTo>
                    <a:pt x="0" y="12010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12154800"/>
            </a:xfrm>
            <a:custGeom>
              <a:avLst/>
              <a:gdLst/>
              <a:ahLst/>
              <a:cxnLst/>
              <a:rect r="r" b="b" t="t" l="l"/>
              <a:pathLst>
                <a:path h="12154800" w="160662317">
                  <a:moveTo>
                    <a:pt x="160517532" y="12010020"/>
                  </a:moveTo>
                  <a:lnTo>
                    <a:pt x="160662317" y="12010020"/>
                  </a:lnTo>
                  <a:lnTo>
                    <a:pt x="160662317" y="12154800"/>
                  </a:lnTo>
                  <a:lnTo>
                    <a:pt x="160517532" y="12154800"/>
                  </a:lnTo>
                  <a:lnTo>
                    <a:pt x="160517532" y="120100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10020"/>
                  </a:lnTo>
                  <a:lnTo>
                    <a:pt x="0" y="12010020"/>
                  </a:lnTo>
                  <a:lnTo>
                    <a:pt x="0" y="144780"/>
                  </a:lnTo>
                  <a:close/>
                  <a:moveTo>
                    <a:pt x="0" y="12010020"/>
                  </a:moveTo>
                  <a:lnTo>
                    <a:pt x="144780" y="12010020"/>
                  </a:lnTo>
                  <a:lnTo>
                    <a:pt x="144780" y="12154800"/>
                  </a:lnTo>
                  <a:lnTo>
                    <a:pt x="0" y="12154800"/>
                  </a:lnTo>
                  <a:lnTo>
                    <a:pt x="0" y="12010020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12010020"/>
                  </a:lnTo>
                  <a:lnTo>
                    <a:pt x="160517532" y="12010020"/>
                  </a:lnTo>
                  <a:lnTo>
                    <a:pt x="160517532" y="144780"/>
                  </a:lnTo>
                  <a:close/>
                  <a:moveTo>
                    <a:pt x="144780" y="12010020"/>
                  </a:moveTo>
                  <a:lnTo>
                    <a:pt x="160517532" y="12010020"/>
                  </a:lnTo>
                  <a:lnTo>
                    <a:pt x="160517532" y="12154800"/>
                  </a:lnTo>
                  <a:lnTo>
                    <a:pt x="144780" y="12154800"/>
                  </a:lnTo>
                  <a:lnTo>
                    <a:pt x="144780" y="12010020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4387" y="1692049"/>
            <a:ext cx="17839313" cy="8594951"/>
            <a:chOff x="0" y="0"/>
            <a:chExt cx="160662311" cy="77406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77262052"/>
            </a:xfrm>
            <a:custGeom>
              <a:avLst/>
              <a:gdLst/>
              <a:ahLst/>
              <a:cxnLst/>
              <a:rect r="r" b="b" t="t" l="l"/>
              <a:pathLst>
                <a:path h="77262052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77262052"/>
                  </a:lnTo>
                  <a:lnTo>
                    <a:pt x="0" y="77262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77406829"/>
            </a:xfrm>
            <a:custGeom>
              <a:avLst/>
              <a:gdLst/>
              <a:ahLst/>
              <a:cxnLst/>
              <a:rect r="r" b="b" t="t" l="l"/>
              <a:pathLst>
                <a:path h="77406829" w="160662317">
                  <a:moveTo>
                    <a:pt x="160517532" y="77262050"/>
                  </a:moveTo>
                  <a:lnTo>
                    <a:pt x="160662317" y="77262050"/>
                  </a:lnTo>
                  <a:lnTo>
                    <a:pt x="160662317" y="77406829"/>
                  </a:lnTo>
                  <a:lnTo>
                    <a:pt x="160517532" y="77406829"/>
                  </a:lnTo>
                  <a:lnTo>
                    <a:pt x="160517532" y="772620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7262050"/>
                  </a:lnTo>
                  <a:lnTo>
                    <a:pt x="0" y="77262050"/>
                  </a:lnTo>
                  <a:lnTo>
                    <a:pt x="0" y="144780"/>
                  </a:lnTo>
                  <a:close/>
                  <a:moveTo>
                    <a:pt x="0" y="77262050"/>
                  </a:moveTo>
                  <a:lnTo>
                    <a:pt x="144780" y="77262050"/>
                  </a:lnTo>
                  <a:lnTo>
                    <a:pt x="144780" y="77406829"/>
                  </a:lnTo>
                  <a:lnTo>
                    <a:pt x="0" y="77406829"/>
                  </a:lnTo>
                  <a:lnTo>
                    <a:pt x="0" y="77262050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77262050"/>
                  </a:lnTo>
                  <a:lnTo>
                    <a:pt x="160517532" y="77262050"/>
                  </a:lnTo>
                  <a:lnTo>
                    <a:pt x="160517532" y="144780"/>
                  </a:lnTo>
                  <a:close/>
                  <a:moveTo>
                    <a:pt x="144780" y="77262050"/>
                  </a:moveTo>
                  <a:lnTo>
                    <a:pt x="160517532" y="77262050"/>
                  </a:lnTo>
                  <a:lnTo>
                    <a:pt x="160517532" y="77406829"/>
                  </a:lnTo>
                  <a:lnTo>
                    <a:pt x="144780" y="77406829"/>
                  </a:lnTo>
                  <a:lnTo>
                    <a:pt x="144780" y="77262050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8464" y="373065"/>
            <a:ext cx="17278844" cy="136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APLICACIONES REALES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4164" y="1720624"/>
            <a:ext cx="10607512" cy="839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Redes sociales:</a:t>
            </a: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Influencers: En redes sociales, NetworkX se usa para identificar usuarios influyentes analizando qué nodos tienen más conexiones o mayor centralidad dentro de la red.</a:t>
            </a: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Comunidades: Permite detectar grupos de usuarios que están más conectados entre sí que con el resto de la red.</a:t>
            </a:r>
          </a:p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Redes de transporte:</a:t>
            </a: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Rutas óptimas: En transporte, los nodos representan lugares y las aristas las rutas; NetworkX permite calcular el camino más corto o más eficiente entre dos puntos.</a:t>
            </a:r>
          </a:p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Biología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:</a:t>
            </a: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Epidemiología: NetworkX permite analizar cómo se propagan enfermedades modelando personas o regiones como nodos y los contagios como conexiones.</a:t>
            </a:r>
          </a:p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Internet y telecomunicaciones</a:t>
            </a: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Se usa para representar redes de computadoras o servidores, ayudando a estudiar la conectividad, el flujo de datos y puntos críticos de fallo.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11676" y="3518035"/>
            <a:ext cx="6973898" cy="5268803"/>
          </a:xfrm>
          <a:custGeom>
            <a:avLst/>
            <a:gdLst/>
            <a:ahLst/>
            <a:cxnLst/>
            <a:rect r="r" b="b" t="t" l="l"/>
            <a:pathLst>
              <a:path h="5268803" w="6973898">
                <a:moveTo>
                  <a:pt x="0" y="0"/>
                </a:moveTo>
                <a:lnTo>
                  <a:pt x="6973899" y="0"/>
                </a:lnTo>
                <a:lnTo>
                  <a:pt x="6973899" y="5268803"/>
                </a:lnTo>
                <a:lnTo>
                  <a:pt x="0" y="5268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77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3345" y="548132"/>
            <a:ext cx="17584204" cy="9190735"/>
            <a:chOff x="0" y="0"/>
            <a:chExt cx="163501612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3356828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3356828">
                  <a:moveTo>
                    <a:pt x="0" y="0"/>
                  </a:moveTo>
                  <a:lnTo>
                    <a:pt x="163356828" y="0"/>
                  </a:lnTo>
                  <a:lnTo>
                    <a:pt x="163356828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501611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3501611">
                  <a:moveTo>
                    <a:pt x="163356838" y="85312603"/>
                  </a:moveTo>
                  <a:lnTo>
                    <a:pt x="163501611" y="85312603"/>
                  </a:lnTo>
                  <a:lnTo>
                    <a:pt x="163501611" y="85457382"/>
                  </a:lnTo>
                  <a:lnTo>
                    <a:pt x="163356838" y="85457382"/>
                  </a:lnTo>
                  <a:lnTo>
                    <a:pt x="163356838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3356838" y="144780"/>
                  </a:moveTo>
                  <a:lnTo>
                    <a:pt x="163501611" y="144780"/>
                  </a:lnTo>
                  <a:lnTo>
                    <a:pt x="163501611" y="85312603"/>
                  </a:lnTo>
                  <a:lnTo>
                    <a:pt x="163356838" y="85312603"/>
                  </a:lnTo>
                  <a:lnTo>
                    <a:pt x="163356838" y="144780"/>
                  </a:lnTo>
                  <a:close/>
                  <a:moveTo>
                    <a:pt x="144780" y="85312603"/>
                  </a:moveTo>
                  <a:lnTo>
                    <a:pt x="163356838" y="85312603"/>
                  </a:lnTo>
                  <a:lnTo>
                    <a:pt x="163356838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3356838" y="0"/>
                  </a:moveTo>
                  <a:lnTo>
                    <a:pt x="163501611" y="0"/>
                  </a:lnTo>
                  <a:lnTo>
                    <a:pt x="163501611" y="144780"/>
                  </a:lnTo>
                  <a:lnTo>
                    <a:pt x="163356838" y="144780"/>
                  </a:lnTo>
                  <a:lnTo>
                    <a:pt x="16335683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3356838" y="0"/>
                  </a:lnTo>
                  <a:lnTo>
                    <a:pt x="16335683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2414050"/>
            <a:ext cx="8619314" cy="5458899"/>
          </a:xfrm>
          <a:custGeom>
            <a:avLst/>
            <a:gdLst/>
            <a:ahLst/>
            <a:cxnLst/>
            <a:rect r="r" b="b" t="t" l="l"/>
            <a:pathLst>
              <a:path h="5458899" w="8619314">
                <a:moveTo>
                  <a:pt x="0" y="0"/>
                </a:moveTo>
                <a:lnTo>
                  <a:pt x="8619314" y="0"/>
                </a:lnTo>
                <a:lnTo>
                  <a:pt x="8619314" y="5458900"/>
                </a:lnTo>
                <a:lnTo>
                  <a:pt x="0" y="545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70569" y="602298"/>
            <a:ext cx="9589755" cy="102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9"/>
              </a:lnSpc>
            </a:pPr>
            <a:r>
              <a:rPr lang="en-US" sz="70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Limitaciones y Alternativas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759" y="1856886"/>
            <a:ext cx="8139082" cy="815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No optimizada para grafos muy grandes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Bajo rendimiento con millones de nodos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Uso intensivo de memoria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Enfocada en facilidad de uso más que en velocidad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Alternativas:</a:t>
            </a:r>
          </a:p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      igraph: alto rendimiento y bajo consumo de memoria</a:t>
            </a:r>
          </a:p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      </a:t>
            </a: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graph-tool: muy rápida, basada en C++</a:t>
            </a:r>
          </a:p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      </a:t>
            </a: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Neo4j: base de datos orientada a grafos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Mejor para análisis que para producción</a:t>
            </a:r>
          </a:p>
          <a:p>
            <a:pPr algn="l" marL="906790" indent="-453395" lvl="1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No ideal para sistemas de producción a gran escala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560246" y="1028700"/>
            <a:ext cx="2368802" cy="784020"/>
          </a:xfrm>
          <a:custGeom>
            <a:avLst/>
            <a:gdLst/>
            <a:ahLst/>
            <a:cxnLst/>
            <a:rect r="r" b="b" t="t" l="l"/>
            <a:pathLst>
              <a:path h="784020" w="2368802">
                <a:moveTo>
                  <a:pt x="0" y="0"/>
                </a:moveTo>
                <a:lnTo>
                  <a:pt x="2368801" y="0"/>
                </a:lnTo>
                <a:lnTo>
                  <a:pt x="2368801" y="784020"/>
                </a:lnTo>
                <a:lnTo>
                  <a:pt x="0" y="784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938" b="-2110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19626" y="1515677"/>
            <a:ext cx="4939674" cy="4939674"/>
          </a:xfrm>
          <a:custGeom>
            <a:avLst/>
            <a:gdLst/>
            <a:ahLst/>
            <a:cxnLst/>
            <a:rect r="r" b="b" t="t" l="l"/>
            <a:pathLst>
              <a:path h="4939674" w="4939674">
                <a:moveTo>
                  <a:pt x="0" y="0"/>
                </a:moveTo>
                <a:lnTo>
                  <a:pt x="4939674" y="0"/>
                </a:lnTo>
                <a:lnTo>
                  <a:pt x="4939674" y="4939675"/>
                </a:lnTo>
                <a:lnTo>
                  <a:pt x="0" y="4939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-5957116">
            <a:off x="14555733" y="7603724"/>
            <a:ext cx="2900325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-4856152">
            <a:off x="12117318" y="7604513"/>
            <a:ext cx="2900325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3236408" y="6202313"/>
            <a:ext cx="3106109" cy="506078"/>
            <a:chOff x="0" y="0"/>
            <a:chExt cx="6908046" cy="11255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6763266" cy="980747"/>
            </a:xfrm>
            <a:custGeom>
              <a:avLst/>
              <a:gdLst/>
              <a:ahLst/>
              <a:cxnLst/>
              <a:rect r="r" b="b" t="t" l="l"/>
              <a:pathLst>
                <a:path h="980747" w="6763266">
                  <a:moveTo>
                    <a:pt x="0" y="0"/>
                  </a:moveTo>
                  <a:lnTo>
                    <a:pt x="6763266" y="0"/>
                  </a:lnTo>
                  <a:lnTo>
                    <a:pt x="6763266" y="980747"/>
                  </a:lnTo>
                  <a:lnTo>
                    <a:pt x="0" y="980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08046" cy="1125527"/>
            </a:xfrm>
            <a:custGeom>
              <a:avLst/>
              <a:gdLst/>
              <a:ahLst/>
              <a:cxnLst/>
              <a:rect r="r" b="b" t="t" l="l"/>
              <a:pathLst>
                <a:path h="1125527" w="6908046">
                  <a:moveTo>
                    <a:pt x="6763266" y="980747"/>
                  </a:moveTo>
                  <a:lnTo>
                    <a:pt x="6908046" y="980747"/>
                  </a:lnTo>
                  <a:lnTo>
                    <a:pt x="6908046" y="1125527"/>
                  </a:lnTo>
                  <a:lnTo>
                    <a:pt x="6763266" y="1125527"/>
                  </a:lnTo>
                  <a:lnTo>
                    <a:pt x="6763266" y="98074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0747"/>
                  </a:lnTo>
                  <a:lnTo>
                    <a:pt x="0" y="980747"/>
                  </a:lnTo>
                  <a:lnTo>
                    <a:pt x="0" y="144780"/>
                  </a:lnTo>
                  <a:close/>
                  <a:moveTo>
                    <a:pt x="0" y="980747"/>
                  </a:moveTo>
                  <a:lnTo>
                    <a:pt x="144780" y="980747"/>
                  </a:lnTo>
                  <a:lnTo>
                    <a:pt x="144780" y="1125527"/>
                  </a:lnTo>
                  <a:lnTo>
                    <a:pt x="0" y="1125527"/>
                  </a:lnTo>
                  <a:lnTo>
                    <a:pt x="0" y="980747"/>
                  </a:lnTo>
                  <a:close/>
                  <a:moveTo>
                    <a:pt x="6763266" y="144780"/>
                  </a:moveTo>
                  <a:lnTo>
                    <a:pt x="6908046" y="144780"/>
                  </a:lnTo>
                  <a:lnTo>
                    <a:pt x="6908046" y="980747"/>
                  </a:lnTo>
                  <a:lnTo>
                    <a:pt x="6763266" y="980747"/>
                  </a:lnTo>
                  <a:lnTo>
                    <a:pt x="6763266" y="144780"/>
                  </a:lnTo>
                  <a:close/>
                  <a:moveTo>
                    <a:pt x="144780" y="980747"/>
                  </a:moveTo>
                  <a:lnTo>
                    <a:pt x="6763266" y="980747"/>
                  </a:lnTo>
                  <a:lnTo>
                    <a:pt x="6763266" y="1125527"/>
                  </a:lnTo>
                  <a:lnTo>
                    <a:pt x="144780" y="1125527"/>
                  </a:lnTo>
                  <a:lnTo>
                    <a:pt x="144780" y="980747"/>
                  </a:lnTo>
                  <a:close/>
                  <a:moveTo>
                    <a:pt x="6763266" y="0"/>
                  </a:moveTo>
                  <a:lnTo>
                    <a:pt x="6908046" y="0"/>
                  </a:lnTo>
                  <a:lnTo>
                    <a:pt x="6908046" y="144780"/>
                  </a:lnTo>
                  <a:lnTo>
                    <a:pt x="6763266" y="144780"/>
                  </a:lnTo>
                  <a:lnTo>
                    <a:pt x="67632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763266" y="0"/>
                  </a:lnTo>
                  <a:lnTo>
                    <a:pt x="67632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40606"/>
            </a:solidFill>
          </p:spPr>
        </p:sp>
      </p:grpSp>
      <p:sp>
        <p:nvSpPr>
          <p:cNvPr name="AutoShape 12" id="12"/>
          <p:cNvSpPr/>
          <p:nvPr/>
        </p:nvSpPr>
        <p:spPr>
          <a:xfrm rot="-10800000">
            <a:off x="13312092" y="9013844"/>
            <a:ext cx="2934722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3226399" y="8752222"/>
            <a:ext cx="3106109" cy="290729"/>
            <a:chOff x="0" y="0"/>
            <a:chExt cx="6908046" cy="6465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6763266" cy="501807"/>
            </a:xfrm>
            <a:custGeom>
              <a:avLst/>
              <a:gdLst/>
              <a:ahLst/>
              <a:cxnLst/>
              <a:rect r="r" b="b" t="t" l="l"/>
              <a:pathLst>
                <a:path h="501807" w="6763266">
                  <a:moveTo>
                    <a:pt x="0" y="0"/>
                  </a:moveTo>
                  <a:lnTo>
                    <a:pt x="6763266" y="0"/>
                  </a:lnTo>
                  <a:lnTo>
                    <a:pt x="6763266" y="501807"/>
                  </a:lnTo>
                  <a:lnTo>
                    <a:pt x="0" y="501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08046" cy="646587"/>
            </a:xfrm>
            <a:custGeom>
              <a:avLst/>
              <a:gdLst/>
              <a:ahLst/>
              <a:cxnLst/>
              <a:rect r="r" b="b" t="t" l="l"/>
              <a:pathLst>
                <a:path h="646587" w="6908046">
                  <a:moveTo>
                    <a:pt x="6763266" y="501807"/>
                  </a:moveTo>
                  <a:lnTo>
                    <a:pt x="6908046" y="501807"/>
                  </a:lnTo>
                  <a:lnTo>
                    <a:pt x="6908046" y="646587"/>
                  </a:lnTo>
                  <a:lnTo>
                    <a:pt x="6763266" y="646587"/>
                  </a:lnTo>
                  <a:lnTo>
                    <a:pt x="6763266" y="501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01807"/>
                  </a:lnTo>
                  <a:lnTo>
                    <a:pt x="0" y="501807"/>
                  </a:lnTo>
                  <a:lnTo>
                    <a:pt x="0" y="144780"/>
                  </a:lnTo>
                  <a:close/>
                  <a:moveTo>
                    <a:pt x="0" y="501807"/>
                  </a:moveTo>
                  <a:lnTo>
                    <a:pt x="144780" y="501807"/>
                  </a:lnTo>
                  <a:lnTo>
                    <a:pt x="144780" y="646587"/>
                  </a:lnTo>
                  <a:lnTo>
                    <a:pt x="0" y="646587"/>
                  </a:lnTo>
                  <a:lnTo>
                    <a:pt x="0" y="501807"/>
                  </a:lnTo>
                  <a:close/>
                  <a:moveTo>
                    <a:pt x="6763266" y="144780"/>
                  </a:moveTo>
                  <a:lnTo>
                    <a:pt x="6908046" y="144780"/>
                  </a:lnTo>
                  <a:lnTo>
                    <a:pt x="6908046" y="501807"/>
                  </a:lnTo>
                  <a:lnTo>
                    <a:pt x="6763266" y="501807"/>
                  </a:lnTo>
                  <a:lnTo>
                    <a:pt x="6763266" y="144780"/>
                  </a:lnTo>
                  <a:close/>
                  <a:moveTo>
                    <a:pt x="144780" y="501807"/>
                  </a:moveTo>
                  <a:lnTo>
                    <a:pt x="6763266" y="501807"/>
                  </a:lnTo>
                  <a:lnTo>
                    <a:pt x="6763266" y="646587"/>
                  </a:lnTo>
                  <a:lnTo>
                    <a:pt x="144780" y="646587"/>
                  </a:lnTo>
                  <a:lnTo>
                    <a:pt x="144780" y="501807"/>
                  </a:lnTo>
                  <a:close/>
                  <a:moveTo>
                    <a:pt x="6763266" y="0"/>
                  </a:moveTo>
                  <a:lnTo>
                    <a:pt x="6908046" y="0"/>
                  </a:lnTo>
                  <a:lnTo>
                    <a:pt x="6908046" y="144780"/>
                  </a:lnTo>
                  <a:lnTo>
                    <a:pt x="6763266" y="144780"/>
                  </a:lnTo>
                  <a:lnTo>
                    <a:pt x="67632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763266" y="0"/>
                  </a:lnTo>
                  <a:lnTo>
                    <a:pt x="67632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4060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48220" y="8967571"/>
            <a:ext cx="3482486" cy="290729"/>
            <a:chOff x="0" y="0"/>
            <a:chExt cx="7745115" cy="6465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600335" cy="501807"/>
            </a:xfrm>
            <a:custGeom>
              <a:avLst/>
              <a:gdLst/>
              <a:ahLst/>
              <a:cxnLst/>
              <a:rect r="r" b="b" t="t" l="l"/>
              <a:pathLst>
                <a:path h="501807" w="7600335">
                  <a:moveTo>
                    <a:pt x="0" y="0"/>
                  </a:moveTo>
                  <a:lnTo>
                    <a:pt x="7600335" y="0"/>
                  </a:lnTo>
                  <a:lnTo>
                    <a:pt x="7600335" y="501807"/>
                  </a:lnTo>
                  <a:lnTo>
                    <a:pt x="0" y="501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92D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45115" cy="646587"/>
            </a:xfrm>
            <a:custGeom>
              <a:avLst/>
              <a:gdLst/>
              <a:ahLst/>
              <a:cxnLst/>
              <a:rect r="r" b="b" t="t" l="l"/>
              <a:pathLst>
                <a:path h="646587" w="7745115">
                  <a:moveTo>
                    <a:pt x="7600335" y="501807"/>
                  </a:moveTo>
                  <a:lnTo>
                    <a:pt x="7745115" y="501807"/>
                  </a:lnTo>
                  <a:lnTo>
                    <a:pt x="7745115" y="646587"/>
                  </a:lnTo>
                  <a:lnTo>
                    <a:pt x="7600335" y="646587"/>
                  </a:lnTo>
                  <a:lnTo>
                    <a:pt x="7600335" y="501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01807"/>
                  </a:lnTo>
                  <a:lnTo>
                    <a:pt x="0" y="501807"/>
                  </a:lnTo>
                  <a:lnTo>
                    <a:pt x="0" y="144780"/>
                  </a:lnTo>
                  <a:close/>
                  <a:moveTo>
                    <a:pt x="0" y="501807"/>
                  </a:moveTo>
                  <a:lnTo>
                    <a:pt x="144780" y="501807"/>
                  </a:lnTo>
                  <a:lnTo>
                    <a:pt x="144780" y="646587"/>
                  </a:lnTo>
                  <a:lnTo>
                    <a:pt x="0" y="646587"/>
                  </a:lnTo>
                  <a:lnTo>
                    <a:pt x="0" y="501807"/>
                  </a:lnTo>
                  <a:close/>
                  <a:moveTo>
                    <a:pt x="7600335" y="144780"/>
                  </a:moveTo>
                  <a:lnTo>
                    <a:pt x="7745115" y="144780"/>
                  </a:lnTo>
                  <a:lnTo>
                    <a:pt x="7745115" y="501807"/>
                  </a:lnTo>
                  <a:lnTo>
                    <a:pt x="7600335" y="501807"/>
                  </a:lnTo>
                  <a:lnTo>
                    <a:pt x="7600335" y="144780"/>
                  </a:lnTo>
                  <a:close/>
                  <a:moveTo>
                    <a:pt x="144780" y="501807"/>
                  </a:moveTo>
                  <a:lnTo>
                    <a:pt x="7600335" y="501807"/>
                  </a:lnTo>
                  <a:lnTo>
                    <a:pt x="7600335" y="646587"/>
                  </a:lnTo>
                  <a:lnTo>
                    <a:pt x="144780" y="646587"/>
                  </a:lnTo>
                  <a:lnTo>
                    <a:pt x="144780" y="501807"/>
                  </a:lnTo>
                  <a:close/>
                  <a:moveTo>
                    <a:pt x="7600335" y="0"/>
                  </a:moveTo>
                  <a:lnTo>
                    <a:pt x="7745115" y="0"/>
                  </a:lnTo>
                  <a:lnTo>
                    <a:pt x="7745115" y="144780"/>
                  </a:lnTo>
                  <a:lnTo>
                    <a:pt x="7600335" y="144780"/>
                  </a:lnTo>
                  <a:lnTo>
                    <a:pt x="760033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600335" y="0"/>
                  </a:lnTo>
                  <a:lnTo>
                    <a:pt x="760033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40606"/>
            </a:solidFill>
          </p:spPr>
        </p:sp>
      </p:grpSp>
      <p:sp>
        <p:nvSpPr>
          <p:cNvPr name="AutoShape 19" id="19"/>
          <p:cNvSpPr/>
          <p:nvPr/>
        </p:nvSpPr>
        <p:spPr>
          <a:xfrm rot="-5957116">
            <a:off x="14637967" y="7300210"/>
            <a:ext cx="1323896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-4856152">
            <a:off x="13524916" y="7300570"/>
            <a:ext cx="1323896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-10800000">
            <a:off x="14082699" y="7930614"/>
            <a:ext cx="1323896" cy="0"/>
          </a:xfrm>
          <a:prstGeom prst="line">
            <a:avLst/>
          </a:prstGeom>
          <a:ln cap="rnd" w="57150">
            <a:solidFill>
              <a:srgbClr val="04060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434248" y="7329677"/>
            <a:ext cx="620797" cy="167277"/>
            <a:chOff x="0" y="0"/>
            <a:chExt cx="2399612" cy="6465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2390" y="72390"/>
              <a:ext cx="2254832" cy="501807"/>
            </a:xfrm>
            <a:custGeom>
              <a:avLst/>
              <a:gdLst/>
              <a:ahLst/>
              <a:cxnLst/>
              <a:rect r="r" b="b" t="t" l="l"/>
              <a:pathLst>
                <a:path h="501807" w="2254832">
                  <a:moveTo>
                    <a:pt x="0" y="0"/>
                  </a:moveTo>
                  <a:lnTo>
                    <a:pt x="2254832" y="0"/>
                  </a:lnTo>
                  <a:lnTo>
                    <a:pt x="2254832" y="501807"/>
                  </a:lnTo>
                  <a:lnTo>
                    <a:pt x="0" y="501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99612" cy="646587"/>
            </a:xfrm>
            <a:custGeom>
              <a:avLst/>
              <a:gdLst/>
              <a:ahLst/>
              <a:cxnLst/>
              <a:rect r="r" b="b" t="t" l="l"/>
              <a:pathLst>
                <a:path h="646587" w="2399612">
                  <a:moveTo>
                    <a:pt x="2254832" y="501807"/>
                  </a:moveTo>
                  <a:lnTo>
                    <a:pt x="2399612" y="501807"/>
                  </a:lnTo>
                  <a:lnTo>
                    <a:pt x="2399612" y="646587"/>
                  </a:lnTo>
                  <a:lnTo>
                    <a:pt x="2254832" y="646587"/>
                  </a:lnTo>
                  <a:lnTo>
                    <a:pt x="2254832" y="501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01807"/>
                  </a:lnTo>
                  <a:lnTo>
                    <a:pt x="0" y="501807"/>
                  </a:lnTo>
                  <a:lnTo>
                    <a:pt x="0" y="144780"/>
                  </a:lnTo>
                  <a:close/>
                  <a:moveTo>
                    <a:pt x="0" y="501807"/>
                  </a:moveTo>
                  <a:lnTo>
                    <a:pt x="144780" y="501807"/>
                  </a:lnTo>
                  <a:lnTo>
                    <a:pt x="144780" y="646587"/>
                  </a:lnTo>
                  <a:lnTo>
                    <a:pt x="0" y="646587"/>
                  </a:lnTo>
                  <a:lnTo>
                    <a:pt x="0" y="501807"/>
                  </a:lnTo>
                  <a:close/>
                  <a:moveTo>
                    <a:pt x="2254832" y="144780"/>
                  </a:moveTo>
                  <a:lnTo>
                    <a:pt x="2399612" y="144780"/>
                  </a:lnTo>
                  <a:lnTo>
                    <a:pt x="2399612" y="501807"/>
                  </a:lnTo>
                  <a:lnTo>
                    <a:pt x="2254832" y="501807"/>
                  </a:lnTo>
                  <a:lnTo>
                    <a:pt x="2254832" y="144780"/>
                  </a:lnTo>
                  <a:close/>
                  <a:moveTo>
                    <a:pt x="144780" y="501807"/>
                  </a:moveTo>
                  <a:lnTo>
                    <a:pt x="2254832" y="501807"/>
                  </a:lnTo>
                  <a:lnTo>
                    <a:pt x="2254832" y="646587"/>
                  </a:lnTo>
                  <a:lnTo>
                    <a:pt x="144780" y="646587"/>
                  </a:lnTo>
                  <a:lnTo>
                    <a:pt x="144780" y="501807"/>
                  </a:lnTo>
                  <a:close/>
                  <a:moveTo>
                    <a:pt x="2254832" y="0"/>
                  </a:moveTo>
                  <a:lnTo>
                    <a:pt x="2399612" y="0"/>
                  </a:lnTo>
                  <a:lnTo>
                    <a:pt x="2399612" y="144780"/>
                  </a:lnTo>
                  <a:lnTo>
                    <a:pt x="2254832" y="144780"/>
                  </a:lnTo>
                  <a:lnTo>
                    <a:pt x="22548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4832" y="0"/>
                  </a:lnTo>
                  <a:lnTo>
                    <a:pt x="22548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40606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216905" y="4849577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531044" y="3615312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48881" y="3314170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472152" y="4663684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727400" y="4325391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16905" y="2538331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1"/>
                </a:lnTo>
                <a:lnTo>
                  <a:pt x="0" y="1048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461002" y="2014145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1"/>
                </a:lnTo>
                <a:lnTo>
                  <a:pt x="0" y="1048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727400" y="2905233"/>
            <a:ext cx="1048372" cy="1048372"/>
          </a:xfrm>
          <a:custGeom>
            <a:avLst/>
            <a:gdLst/>
            <a:ahLst/>
            <a:cxnLst/>
            <a:rect r="r" b="b" t="t" l="l"/>
            <a:pathLst>
              <a:path h="1048372" w="1048372">
                <a:moveTo>
                  <a:pt x="0" y="0"/>
                </a:moveTo>
                <a:lnTo>
                  <a:pt x="1048372" y="0"/>
                </a:lnTo>
                <a:lnTo>
                  <a:pt x="1048372" y="1048372"/>
                </a:lnTo>
                <a:lnTo>
                  <a:pt x="0" y="1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850060"/>
            <a:ext cx="11290926" cy="109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7699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Ventajas generales de NetworkX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2239105"/>
            <a:ext cx="11388044" cy="772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1" indent="-399416" lvl="1">
              <a:lnSpc>
                <a:spcPts val="407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Curva de aprendizaje baja</a:t>
            </a:r>
          </a:p>
          <a:p>
            <a:pPr algn="l">
              <a:lnSpc>
                <a:spcPts val="4070"/>
              </a:lnSpc>
            </a:pP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    </a:t>
            </a: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Sintaxis sencilla y fácil de entender, ideal para principiantes.</a:t>
            </a:r>
          </a:p>
          <a:p>
            <a:pPr algn="l" marL="798831" indent="-399416" lvl="1">
              <a:lnSpc>
                <a:spcPts val="407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Muy flexible</a:t>
            </a:r>
          </a:p>
          <a:p>
            <a:pPr algn="l">
              <a:lnSpc>
                <a:spcPts val="4070"/>
              </a:lnSpc>
            </a:pP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      </a:t>
            </a: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Permite crear distintos tipos de grafos y añadir atributos personalizados.</a:t>
            </a:r>
          </a:p>
          <a:p>
            <a:pPr algn="l" marL="798831" indent="-399416" lvl="1">
              <a:lnSpc>
                <a:spcPts val="407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Integración con el ecosistema Python</a:t>
            </a:r>
          </a:p>
          <a:p>
            <a:pPr algn="l">
              <a:lnSpc>
                <a:spcPts val="4070"/>
              </a:lnSpc>
            </a:pP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      </a:t>
            </a: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Funciona bien con NumPy, Pandas y Matplotlib.</a:t>
            </a:r>
          </a:p>
          <a:p>
            <a:pPr algn="l" marL="798831" indent="-399416" lvl="1">
              <a:lnSpc>
                <a:spcPts val="407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Ideal para análisis académico y científico</a:t>
            </a:r>
          </a:p>
          <a:p>
            <a:pPr algn="l">
              <a:lnSpc>
                <a:spcPts val="4070"/>
              </a:lnSpc>
            </a:pP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      </a:t>
            </a: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Muy usada en enseñanza, investigación y prototipos.</a:t>
            </a:r>
          </a:p>
          <a:p>
            <a:pPr algn="l" marL="798831" indent="-399416" lvl="1">
              <a:lnSpc>
                <a:spcPts val="407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Amplia documentación y comunidad activa</a:t>
            </a:r>
          </a:p>
          <a:p>
            <a:pPr algn="l">
              <a:lnSpc>
                <a:spcPts val="4070"/>
              </a:lnSpc>
            </a:pP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      </a:t>
            </a:r>
            <a:r>
              <a:rPr lang="en-US" sz="37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Facilita el aprendizaje y la resolución de problemas.</a:t>
            </a:r>
          </a:p>
          <a:p>
            <a:pPr algn="l">
              <a:lnSpc>
                <a:spcPts val="407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9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40834" y="4501873"/>
            <a:ext cx="3229696" cy="3015729"/>
          </a:xfrm>
          <a:custGeom>
            <a:avLst/>
            <a:gdLst/>
            <a:ahLst/>
            <a:cxnLst/>
            <a:rect r="r" b="b" t="t" l="l"/>
            <a:pathLst>
              <a:path h="3015729" w="3229696">
                <a:moveTo>
                  <a:pt x="0" y="0"/>
                </a:moveTo>
                <a:lnTo>
                  <a:pt x="3229696" y="0"/>
                </a:lnTo>
                <a:lnTo>
                  <a:pt x="3229696" y="3015728"/>
                </a:lnTo>
                <a:lnTo>
                  <a:pt x="0" y="3015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81107" y="4501873"/>
            <a:ext cx="2823476" cy="3015729"/>
          </a:xfrm>
          <a:custGeom>
            <a:avLst/>
            <a:gdLst/>
            <a:ahLst/>
            <a:cxnLst/>
            <a:rect r="r" b="b" t="t" l="l"/>
            <a:pathLst>
              <a:path h="3015729" w="2823476">
                <a:moveTo>
                  <a:pt x="0" y="0"/>
                </a:moveTo>
                <a:lnTo>
                  <a:pt x="2823475" y="0"/>
                </a:lnTo>
                <a:lnTo>
                  <a:pt x="2823475" y="3015728"/>
                </a:lnTo>
                <a:lnTo>
                  <a:pt x="0" y="3015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17470" y="4501873"/>
            <a:ext cx="2966723" cy="3015729"/>
          </a:xfrm>
          <a:custGeom>
            <a:avLst/>
            <a:gdLst/>
            <a:ahLst/>
            <a:cxnLst/>
            <a:rect r="r" b="b" t="t" l="l"/>
            <a:pathLst>
              <a:path h="3015729" w="2966723">
                <a:moveTo>
                  <a:pt x="0" y="0"/>
                </a:moveTo>
                <a:lnTo>
                  <a:pt x="2966723" y="0"/>
                </a:lnTo>
                <a:lnTo>
                  <a:pt x="2966723" y="3015728"/>
                </a:lnTo>
                <a:lnTo>
                  <a:pt x="0" y="3015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32181"/>
            <a:ext cx="16230600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GRACIAS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915" y="8089101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uckiest Guy"/>
                <a:ea typeface="Luckiest Guy"/>
                <a:cs typeface="Luckiest Guy"/>
                <a:sym typeface="Luckiest Guy"/>
              </a:rPr>
              <a:t>HTTPS://GITHUB.COM/MELISAMELENGE/PROBABILIDAD-Y-ESTAD-STICA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DAHA-W6I5LI</dc:identifier>
  <dcterms:modified xsi:type="dcterms:W3CDTF">2011-08-01T06:04:30Z</dcterms:modified>
  <cp:revision>1</cp:revision>
  <dc:title>Chance and Probability Presentation</dc:title>
</cp:coreProperties>
</file>